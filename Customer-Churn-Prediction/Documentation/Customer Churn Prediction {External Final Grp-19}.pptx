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4" r:id="rId4"/>
    <p:sldId id="265" r:id="rId5"/>
    <p:sldId id="259" r:id="rId6"/>
    <p:sldId id="266" r:id="rId7"/>
    <p:sldId id="267" r:id="rId8"/>
    <p:sldId id="261" r:id="rId9"/>
    <p:sldId id="268" r:id="rId10"/>
    <p:sldId id="263" r:id="rId11"/>
    <p:sldId id="323" r:id="rId12"/>
    <p:sldId id="269" r:id="rId13"/>
    <p:sldId id="270" r:id="rId14"/>
    <p:sldId id="271" r:id="rId15"/>
    <p:sldId id="278" r:id="rId16"/>
    <p:sldId id="279" r:id="rId17"/>
    <p:sldId id="272" r:id="rId18"/>
    <p:sldId id="273" r:id="rId19"/>
    <p:sldId id="280" r:id="rId20"/>
    <p:sldId id="274" r:id="rId21"/>
    <p:sldId id="275" r:id="rId22"/>
    <p:sldId id="276" r:id="rId23"/>
    <p:sldId id="324" r:id="rId24"/>
    <p:sldId id="302" r:id="rId25"/>
    <p:sldId id="303" r:id="rId26"/>
    <p:sldId id="304" r:id="rId27"/>
    <p:sldId id="305" r:id="rId28"/>
    <p:sldId id="306" r:id="rId29"/>
    <p:sldId id="307" r:id="rId30"/>
    <p:sldId id="308" r:id="rId31"/>
    <p:sldId id="309" r:id="rId32"/>
    <p:sldId id="310" r:id="rId33"/>
    <p:sldId id="311" r:id="rId34"/>
    <p:sldId id="312" r:id="rId35"/>
    <p:sldId id="313" r:id="rId36"/>
    <p:sldId id="314" r:id="rId37"/>
    <p:sldId id="315" r:id="rId38"/>
    <p:sldId id="325" r:id="rId39"/>
    <p:sldId id="316" r:id="rId40"/>
    <p:sldId id="320" r:id="rId41"/>
    <p:sldId id="321" r:id="rId42"/>
    <p:sldId id="322" r:id="rId43"/>
    <p:sldId id="326" r:id="rId44"/>
    <p:sldId id="317" r:id="rId45"/>
    <p:sldId id="318" r:id="rId46"/>
    <p:sldId id="319" r:id="rId47"/>
    <p:sldId id="277" r:id="rId4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87" d="100"/>
          <a:sy n="87" d="100"/>
        </p:scale>
        <p:origin x="888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E9F83-E656-17BD-F0B5-C8BE31BCC0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4BC059-C3A9-0EC0-303D-04583B6A6B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85CE6E-F876-E96B-8518-3459AD0CA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F3787-8331-4954-8CEA-C6E3D73DC3A4}" type="datetimeFigureOut">
              <a:rPr lang="en-IN" smtClean="0"/>
              <a:t>27-08-2025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F0E62E-B3C1-3DFC-6E2D-3E9E59712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CB82FC-FC59-5735-F1BD-8BF6BC298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F92D9-BC2F-41B4-BA91-2B7ECD0F1B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08323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BDA47-C0FB-CBF0-9DD1-83F3CC4E6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32D3B6-5605-A3C7-12EE-1853CDC792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A0CCBE-A64D-4A04-13D6-1BAA0191D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F3787-8331-4954-8CEA-C6E3D73DC3A4}" type="datetimeFigureOut">
              <a:rPr lang="en-IN" smtClean="0"/>
              <a:t>27-08-2025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E41459-A90A-3AD5-FAC4-9A5B44FE4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9C1CA-2215-8EAC-D878-2C1CD482E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F92D9-BC2F-41B4-BA91-2B7ECD0F1B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91378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939B7-362D-DE99-6AE1-18CEDFC9A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D9A00C-38E7-7485-FA14-9C370E854A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DB2BE5-C603-233C-DC20-96AEDDBEE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F3787-8331-4954-8CEA-C6E3D73DC3A4}" type="datetimeFigureOut">
              <a:rPr lang="en-IN" smtClean="0"/>
              <a:t>27-08-2025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7E0DB9-7576-CD84-14D0-D40764F79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350ACF-1E54-C2F5-418A-00CEFD5AC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F92D9-BC2F-41B4-BA91-2B7ECD0F1B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6824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A4DA0-D62E-DE1B-BE97-70EFF0329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89B7A3-08A5-25C9-D9DD-65F79C6E89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7EB1B2-10B7-F087-65DB-539FC95DF9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CE68E9-AE7F-6332-C001-052E8131A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F3787-8331-4954-8CEA-C6E3D73DC3A4}" type="datetimeFigureOut">
              <a:rPr lang="en-IN" smtClean="0"/>
              <a:t>27-08-2025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1321D7-DDD1-180C-15A9-B49024A76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4F2CAF-8B27-212D-7087-540C7CFD8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F92D9-BC2F-41B4-BA91-2B7ECD0F1B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95283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EA929-B532-931C-E847-DFE3BE088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035DFD-E0E5-F1F0-6585-68B3415473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370FB0-2F32-C001-F8B1-50CB032F43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3E9694-4D97-E576-B155-ACCFEAE897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7A6D6E-316E-D203-4469-0ED47FDA1A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577E29-33DA-F8B1-96DB-8D4B76E68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F3787-8331-4954-8CEA-C6E3D73DC3A4}" type="datetimeFigureOut">
              <a:rPr lang="en-IN" smtClean="0"/>
              <a:t>27-08-2025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A7E3F0-C90C-21D0-FF3C-4037BAAB4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BB05A1-3313-87DD-38EA-879C2CA22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F92D9-BC2F-41B4-BA91-2B7ECD0F1B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6690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A8E3E-4AAB-34B9-3E17-DB3DEFD73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B9B25A-3F98-583A-80DA-B6748991B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F3787-8331-4954-8CEA-C6E3D73DC3A4}" type="datetimeFigureOut">
              <a:rPr lang="en-IN" smtClean="0"/>
              <a:t>27-08-2025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E11A06-A875-8E73-1EEE-E0CDC1F44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34CE27-22BB-3509-95A5-EC066D0BD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F92D9-BC2F-41B4-BA91-2B7ECD0F1B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9904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046FDF-DC12-4B71-D55E-5F7F1EBB1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F3787-8331-4954-8CEA-C6E3D73DC3A4}" type="datetimeFigureOut">
              <a:rPr lang="en-IN" smtClean="0"/>
              <a:t>27-08-2025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F7580B-72CA-3493-68D1-EF391A9F6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44E793-3A84-D185-C761-4C23AB3CD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F92D9-BC2F-41B4-BA91-2B7ECD0F1B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4180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44047-57A6-975B-DBA1-839007EBD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3C08B6-5A99-B547-3C2F-F1C70EA6B1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F4D716-148D-DE24-74AD-8CD365C5A1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892D66-7BFD-38DB-C3AA-B07FF083D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F3787-8331-4954-8CEA-C6E3D73DC3A4}" type="datetimeFigureOut">
              <a:rPr lang="en-IN" smtClean="0"/>
              <a:t>27-08-2025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D14F91-7CC8-7CF8-50FB-8C9E65779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05FD13-A69C-5179-BC14-94DD4F457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F92D9-BC2F-41B4-BA91-2B7ECD0F1B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9179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8D2E9-2938-7F3F-F018-F2FA1523D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22321B-F277-0E1D-ABAB-8A3440C801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FEA84D-8120-2CFC-85C6-867620621B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B07197-69E7-EB39-7467-F7A48E074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F3787-8331-4954-8CEA-C6E3D73DC3A4}" type="datetimeFigureOut">
              <a:rPr lang="en-IN" smtClean="0"/>
              <a:t>27-08-2025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516354-094F-CDC6-B9D2-0CC13250F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AA1865-F211-5BB7-94B8-135B53362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F92D9-BC2F-41B4-BA91-2B7ECD0F1B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643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D2C9E-5E74-65C1-A54E-B342EBC71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8BEBE5-E2AA-6A76-4C0C-9C4415ECEB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82DD29-4BDA-D0D9-1ACC-70079A79B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F3787-8331-4954-8CEA-C6E3D73DC3A4}" type="datetimeFigureOut">
              <a:rPr lang="en-IN" smtClean="0"/>
              <a:t>27-08-2025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06DFFB-FB62-E17E-29DD-50AD6EB6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C14A06-2D82-BF70-6843-F99C6EBE0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F92D9-BC2F-41B4-BA91-2B7ECD0F1B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95831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2E9A62-10B4-1D45-F214-7FEC35C8EC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E13734-121E-1790-3423-7C84D722B0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0DD535-23E5-B486-6DDF-7E7016C24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F3787-8331-4954-8CEA-C6E3D73DC3A4}" type="datetimeFigureOut">
              <a:rPr lang="en-IN" smtClean="0"/>
              <a:t>27-08-2025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88CC98-8B87-CB69-2541-BDAEE17EA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B7E197-CFB0-1A0E-B7A0-CA4D63FF2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F92D9-BC2F-41B4-BA91-2B7ECD0F1B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1892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ADAFE9-FB53-4079-693F-FBCCE06C6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757EA9-4B96-3BEA-7602-D0E1ADEDCC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755360-A894-8169-8B83-E6EF6A801B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3F3787-8331-4954-8CEA-C6E3D73DC3A4}" type="datetimeFigureOut">
              <a:rPr lang="en-IN" smtClean="0"/>
              <a:t>27-08-2025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477E8A-400E-5785-43D7-870A5332EC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11E290-47E4-3362-A2B9-FE6D817296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F92D9-BC2F-41B4-BA91-2B7ECD0F1B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4747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code/bhartiprasad17/customer-churn-prediction/input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hyperlink" Target="https://link.springer.com/content/pdf/10.1186/s40537-019-0191-6.pdf" TargetMode="External"/><Relationship Id="rId13" Type="http://schemas.openxmlformats.org/officeDocument/2006/relationships/hyperlink" Target="https://iarjset.com/wp-content/uploads/2021/07/IARJSET.2021.8692.pdf" TargetMode="External"/><Relationship Id="rId18" Type="http://schemas.openxmlformats.org/officeDocument/2006/relationships/hyperlink" Target="https://journals.plos.org/plosone/article?id=10.1371/journal.pone.0289724" TargetMode="External"/><Relationship Id="rId3" Type="http://schemas.openxmlformats.org/officeDocument/2006/relationships/hyperlink" Target="https://dergipark.org.tr/en/download/article-file/1596918" TargetMode="External"/><Relationship Id="rId21" Type="http://schemas.openxmlformats.org/officeDocument/2006/relationships/hyperlink" Target="https://www.irjmets.com/uploadedfiles/paper/issue_4_april_2023/36156/final/fin_irjmets1682089319.pdf" TargetMode="External"/><Relationship Id="rId7" Type="http://schemas.openxmlformats.org/officeDocument/2006/relationships/hyperlink" Target="https://www.scirp.org/journal/paperinformation?paperid=96177" TargetMode="External"/><Relationship Id="rId12" Type="http://schemas.openxmlformats.org/officeDocument/2006/relationships/hyperlink" Target="https://ieeexplore.ieee.org/iel7/9334048/9334068/09334129.pdf" TargetMode="External"/><Relationship Id="rId17" Type="http://schemas.openxmlformats.org/officeDocument/2006/relationships/hyperlink" Target="https://patentimages.storage.googleapis.com/b3/fb/b8/bf0cf4f68c6120/US20130124258A1.pdf" TargetMode="External"/><Relationship Id="rId2" Type="http://schemas.openxmlformats.org/officeDocument/2006/relationships/image" Target="../media/image1.jpg"/><Relationship Id="rId16" Type="http://schemas.openxmlformats.org/officeDocument/2006/relationships/hyperlink" Target="https://ijetrm.com/issues/files/Dec-2024-02-1733143621-Nov042.pdf" TargetMode="External"/><Relationship Id="rId20" Type="http://schemas.openxmlformats.org/officeDocument/2006/relationships/hyperlink" Target="https://www.researchgate.net/publication/376418723_Predictive_and_Analytics_using_Data_Mining_and_Machine_Learning_for_Customer_Churn_Prediction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mdpi.com/1999-4893/17/6/231" TargetMode="External"/><Relationship Id="rId11" Type="http://schemas.openxmlformats.org/officeDocument/2006/relationships/hyperlink" Target="https://adiwijaya.staff.telkomuniversity.ac.id/files/2014/02/Handling-class-imbalance-in-customer-churn-prediction.pdf" TargetMode="External"/><Relationship Id="rId5" Type="http://schemas.openxmlformats.org/officeDocument/2006/relationships/hyperlink" Target="https://bcpublication.org/index.php/BM/article/view/4971/4831" TargetMode="External"/><Relationship Id="rId15" Type="http://schemas.openxmlformats.org/officeDocument/2006/relationships/hyperlink" Target="https://www.sciencedirect.com/science/article/pii/S2666603023000143?via%3Dihub" TargetMode="External"/><Relationship Id="rId10" Type="http://schemas.openxmlformats.org/officeDocument/2006/relationships/hyperlink" Target="https://journals-sol.sbc.org.br/index.php/jisa/article/view/3874/2964" TargetMode="External"/><Relationship Id="rId19" Type="http://schemas.openxmlformats.org/officeDocument/2006/relationships/hyperlink" Target="https://www.sciencedirect.com/science/article/pii/S2666764923000401" TargetMode="External"/><Relationship Id="rId4" Type="http://schemas.openxmlformats.org/officeDocument/2006/relationships/hyperlink" Target="https://drpress.org/ojs/index.php/HSET/article/view/19847/19429" TargetMode="External"/><Relationship Id="rId9" Type="http://schemas.openxmlformats.org/officeDocument/2006/relationships/hyperlink" Target="https://ieeexplore.ieee.org/stamp/stamp.jsp?tp=&amp;arnumber=8365230" TargetMode="External"/><Relationship Id="rId14" Type="http://schemas.openxmlformats.org/officeDocument/2006/relationships/hyperlink" Target="https://gvpress.com/journals/IJMUE/vol10_no7/22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CECFD65-AE0D-2B47-8BF1-EC695E9596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23"/>
          <a:stretch/>
        </p:blipFill>
        <p:spPr>
          <a:xfrm>
            <a:off x="8958648" y="0"/>
            <a:ext cx="3233351" cy="81253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89BDD55-4AA4-1737-4317-F5692CFC0F94}"/>
              </a:ext>
            </a:extLst>
          </p:cNvPr>
          <p:cNvSpPr txBox="1"/>
          <p:nvPr/>
        </p:nvSpPr>
        <p:spPr>
          <a:xfrm>
            <a:off x="2248929" y="2505670"/>
            <a:ext cx="81183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Churn Prediction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79C9DB-F964-7C85-C95B-CA5CA43578BD}"/>
              </a:ext>
            </a:extLst>
          </p:cNvPr>
          <p:cNvSpPr txBox="1"/>
          <p:nvPr/>
        </p:nvSpPr>
        <p:spPr>
          <a:xfrm>
            <a:off x="220363" y="3938256"/>
            <a:ext cx="457405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1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 </a:t>
            </a:r>
          </a:p>
          <a:p>
            <a:pPr eaLnBrk="1" hangingPunct="1">
              <a:defRPr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Jaiswal Vaibhav Rohitbhai (2203031250036)</a:t>
            </a:r>
          </a:p>
          <a:p>
            <a:pPr eaLnBrk="1" hangingPunct="1">
              <a:defRPr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Sane Harsh Balkrishna (2203031250084)</a:t>
            </a:r>
          </a:p>
          <a:p>
            <a:pPr eaLnBrk="1" hangingPunct="1">
              <a:defRPr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Ashish Thomas John (2203031250011)</a:t>
            </a:r>
          </a:p>
          <a:p>
            <a:pPr eaLnBrk="1" hangingPunct="1">
              <a:defRPr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Adithya Vinod (2203031250004)</a:t>
            </a:r>
          </a:p>
          <a:p>
            <a:pPr eaLnBrk="1" hangingPunct="1">
              <a:defRPr/>
            </a:pPr>
            <a:endParaRPr lang="en-US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defRPr/>
            </a:pPr>
            <a:r>
              <a:rPr lang="en-US" altLang="en-US" sz="1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Mentor:</a:t>
            </a:r>
          </a:p>
          <a:p>
            <a:pPr eaLnBrk="1" hangingPunct="1">
              <a:defRPr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Ankita Saxena</a:t>
            </a:r>
          </a:p>
        </p:txBody>
      </p:sp>
    </p:spTree>
    <p:extLst>
      <p:ext uri="{BB962C8B-B14F-4D97-AF65-F5344CB8AC3E}">
        <p14:creationId xmlns:p14="http://schemas.microsoft.com/office/powerpoint/2010/main" val="41343993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930690B-2BBB-AAF3-AF17-73E9F6B6C3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23"/>
          <a:stretch/>
        </p:blipFill>
        <p:spPr>
          <a:xfrm>
            <a:off x="8958648" y="0"/>
            <a:ext cx="3233351" cy="81253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C56633C-DD59-597B-D314-DAB147E7EADE}"/>
              </a:ext>
            </a:extLst>
          </p:cNvPr>
          <p:cNvSpPr txBox="1"/>
          <p:nvPr/>
        </p:nvSpPr>
        <p:spPr>
          <a:xfrm>
            <a:off x="243014" y="1613118"/>
            <a:ext cx="1194898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kern="100" dirty="0">
                <a:solidFill>
                  <a:srgbClr val="0B1A4A"/>
                </a:solidFill>
                <a:latin typeface="Monseratt semibold"/>
                <a:ea typeface="Aptos" panose="020B0004020202020204" pitchFamily="34" charset="0"/>
                <a:cs typeface="Times New Roman" panose="02020603050405020304" pitchFamily="18" charset="0"/>
              </a:rPr>
              <a:t>Customer churn</a:t>
            </a:r>
            <a:r>
              <a:rPr lang="en-IN" sz="2800" kern="100" dirty="0">
                <a:latin typeface="Monseratt semibold"/>
                <a:ea typeface="Aptos" panose="020B0004020202020204" pitchFamily="34" charset="0"/>
                <a:cs typeface="Times New Roman" panose="02020603050405020304" pitchFamily="18" charset="0"/>
              </a:rPr>
              <a:t>—where customers stop using a company's services—is a critical issue that leads to lost revenue and higher customer acquisition costs. This project aims to develop a predictive model that can identify customers likely to churn by leveraging big data analytics and machine learning techniques. </a:t>
            </a:r>
            <a:endParaRPr lang="en-US" sz="2800" dirty="0">
              <a:solidFill>
                <a:schemeClr val="bg1"/>
              </a:solidFill>
              <a:latin typeface="Monseratt semibold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37E5AD-B5DD-815F-429E-56AC27F3E42A}"/>
              </a:ext>
            </a:extLst>
          </p:cNvPr>
          <p:cNvSpPr txBox="1"/>
          <p:nvPr/>
        </p:nvSpPr>
        <p:spPr>
          <a:xfrm>
            <a:off x="1849910" y="812531"/>
            <a:ext cx="84921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en-US" sz="4000" b="1" u="sng" dirty="0">
                <a:latin typeface="Monseratt semibold"/>
                <a:cs typeface="Times New Roman" panose="02020603050405020304" pitchFamily="18" charset="0"/>
              </a:rPr>
              <a:t>Abstract of Predicting Customer Churn</a:t>
            </a:r>
            <a:endParaRPr lang="en-US" sz="4000" b="1" dirty="0">
              <a:latin typeface="Monseratt semibold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5941E90-71AA-429C-7DC4-F3D5DEF6E70C}"/>
              </a:ext>
            </a:extLst>
          </p:cNvPr>
          <p:cNvSpPr txBox="1"/>
          <p:nvPr/>
        </p:nvSpPr>
        <p:spPr>
          <a:xfrm>
            <a:off x="243014" y="3427024"/>
            <a:ext cx="10663882" cy="34190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IN" sz="2800" b="1" kern="100" dirty="0">
                <a:latin typeface="Monseratt semibold"/>
                <a:ea typeface="Aptos" panose="020B0004020202020204" pitchFamily="34" charset="0"/>
                <a:cs typeface="Times New Roman" panose="02020603050405020304" pitchFamily="18" charset="0"/>
              </a:rPr>
              <a:t>Key Highlights: </a:t>
            </a:r>
            <a:r>
              <a:rPr lang="en-IN" sz="2800" kern="100" dirty="0">
                <a:latin typeface="Monseratt semibold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pPr marL="342888" indent="-342888">
              <a:lnSpc>
                <a:spcPct val="115000"/>
              </a:lnSpc>
              <a:spcAft>
                <a:spcPts val="800"/>
              </a:spcAft>
              <a:buFont typeface="+mj-lt"/>
              <a:buAutoNum type="arabicParenR"/>
            </a:pPr>
            <a:r>
              <a:rPr lang="en-IN" sz="2400" kern="100" dirty="0">
                <a:latin typeface="Monseratt semibold"/>
                <a:ea typeface="Aptos" panose="020B0004020202020204" pitchFamily="34" charset="0"/>
                <a:cs typeface="Times New Roman" panose="02020603050405020304" pitchFamily="18" charset="0"/>
              </a:rPr>
              <a:t>The model will analyse customer behavioural patterns, usage data, and transaction history.  </a:t>
            </a:r>
          </a:p>
          <a:p>
            <a:pPr marL="342888" indent="-342888">
              <a:lnSpc>
                <a:spcPct val="115000"/>
              </a:lnSpc>
              <a:spcAft>
                <a:spcPts val="800"/>
              </a:spcAft>
              <a:buFont typeface="+mj-lt"/>
              <a:buAutoNum type="arabicParenR"/>
            </a:pPr>
            <a:r>
              <a:rPr lang="en-IN" sz="2400" kern="100" dirty="0">
                <a:latin typeface="Monseratt semibold"/>
                <a:ea typeface="Aptos" panose="020B0004020202020204" pitchFamily="34" charset="0"/>
                <a:cs typeface="Times New Roman" panose="02020603050405020304" pitchFamily="18" charset="0"/>
              </a:rPr>
              <a:t>Machine learning algorithms will classify customers as “churn” or “non-churn” based on historical data.  </a:t>
            </a:r>
          </a:p>
          <a:p>
            <a:pPr marL="342888" indent="-342888">
              <a:lnSpc>
                <a:spcPct val="115000"/>
              </a:lnSpc>
              <a:spcAft>
                <a:spcPts val="800"/>
              </a:spcAft>
              <a:buFont typeface="+mj-lt"/>
              <a:buAutoNum type="arabicParenR"/>
            </a:pPr>
            <a:r>
              <a:rPr lang="en-IN" sz="2400" kern="100" dirty="0">
                <a:latin typeface="Monseratt semibold"/>
                <a:ea typeface="Aptos" panose="020B0004020202020204" pitchFamily="34" charset="0"/>
                <a:cs typeface="Times New Roman" panose="02020603050405020304" pitchFamily="18" charset="0"/>
              </a:rPr>
              <a:t>This solution will help organizations take proactive measures to retain customers and optimize revenue.</a:t>
            </a:r>
          </a:p>
        </p:txBody>
      </p:sp>
    </p:spTree>
    <p:extLst>
      <p:ext uri="{BB962C8B-B14F-4D97-AF65-F5344CB8AC3E}">
        <p14:creationId xmlns:p14="http://schemas.microsoft.com/office/powerpoint/2010/main" val="21620869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26DF5-E1C4-74D1-9B20-0E765518C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A388605-AE03-995D-EB55-1E2629F598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23"/>
          <a:stretch/>
        </p:blipFill>
        <p:spPr>
          <a:xfrm>
            <a:off x="8958648" y="0"/>
            <a:ext cx="3233351" cy="81253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AD6223D-2E57-6FA1-299A-75B1FC10F290}"/>
              </a:ext>
            </a:extLst>
          </p:cNvPr>
          <p:cNvSpPr txBox="1"/>
          <p:nvPr/>
        </p:nvSpPr>
        <p:spPr>
          <a:xfrm>
            <a:off x="2382794" y="812531"/>
            <a:ext cx="74264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altLang="en-US" sz="4400" b="1" u="sng" dirty="0">
                <a:latin typeface="Monseratt semibold"/>
                <a:cs typeface="Times New Roman" panose="02020603050405020304" pitchFamily="18" charset="0"/>
              </a:rPr>
              <a:t>Motivation for the Project</a:t>
            </a:r>
            <a:endParaRPr lang="en-US" sz="3600" b="1" u="sng" dirty="0">
              <a:latin typeface="Monseratt semibol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25B61F-F613-E69E-E4EF-1E11689E6640}"/>
              </a:ext>
            </a:extLst>
          </p:cNvPr>
          <p:cNvSpPr txBox="1"/>
          <p:nvPr/>
        </p:nvSpPr>
        <p:spPr>
          <a:xfrm>
            <a:off x="539578" y="1625062"/>
            <a:ext cx="1111284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kern="100" dirty="0">
                <a:latin typeface="Monseratt semibold"/>
                <a:ea typeface="Aptos" panose="020B0004020202020204" pitchFamily="34" charset="0"/>
                <a:cs typeface="Times New Roman" panose="02020603050405020304" pitchFamily="18" charset="0"/>
              </a:rPr>
              <a:t>1.  </a:t>
            </a:r>
            <a:r>
              <a:rPr lang="en-IN" sz="2400" b="1" kern="100" dirty="0">
                <a:solidFill>
                  <a:srgbClr val="0B1A4A"/>
                </a:solidFill>
                <a:latin typeface="Monseratt semibold"/>
                <a:ea typeface="Aptos" panose="020B0004020202020204" pitchFamily="34" charset="0"/>
                <a:cs typeface="Times New Roman" panose="02020603050405020304" pitchFamily="18" charset="0"/>
              </a:rPr>
              <a:t>Real-World Challenge:</a:t>
            </a:r>
            <a:r>
              <a:rPr lang="en-IN" sz="2400" b="1" kern="100" dirty="0">
                <a:latin typeface="Monseratt semibold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IN" sz="2400" kern="100" dirty="0">
                <a:latin typeface="Monseratt semibold"/>
                <a:ea typeface="Aptos" panose="020B0004020202020204" pitchFamily="34" charset="0"/>
                <a:cs typeface="Times New Roman" panose="02020603050405020304" pitchFamily="18" charset="0"/>
              </a:rPr>
              <a:t>High churn rates are costly for companies across industries like telecom, e-commerce, and banking. Retaining customers is 5x cheaper than acquiring new ones.</a:t>
            </a:r>
            <a:endParaRPr lang="en-US" sz="2400" dirty="0">
              <a:solidFill>
                <a:schemeClr val="bg1"/>
              </a:solidFill>
              <a:latin typeface="Monseratt semi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9298EC-B2FC-9D26-CC9C-6EF9358DEF5C}"/>
              </a:ext>
            </a:extLst>
          </p:cNvPr>
          <p:cNvSpPr txBox="1"/>
          <p:nvPr/>
        </p:nvSpPr>
        <p:spPr>
          <a:xfrm>
            <a:off x="539578" y="2868481"/>
            <a:ext cx="1110872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Monseratt semibold"/>
              </a:rPr>
              <a:t>2.</a:t>
            </a:r>
            <a:r>
              <a:rPr lang="en-US" sz="2400" b="1" dirty="0">
                <a:solidFill>
                  <a:schemeClr val="bg1"/>
                </a:solidFill>
                <a:latin typeface="Monseratt semibold"/>
              </a:rPr>
              <a:t> </a:t>
            </a:r>
            <a:r>
              <a:rPr lang="en-IN" sz="2400" b="1" kern="100" dirty="0">
                <a:solidFill>
                  <a:srgbClr val="0B1A4A"/>
                </a:solidFill>
                <a:latin typeface="Monseratt semibold"/>
                <a:ea typeface="Aptos" panose="020B0004020202020204" pitchFamily="34" charset="0"/>
                <a:cs typeface="Times New Roman" panose="02020603050405020304" pitchFamily="18" charset="0"/>
              </a:rPr>
              <a:t>Value of Prediction: </a:t>
            </a:r>
            <a:r>
              <a:rPr lang="en-IN" sz="2400" kern="100" dirty="0">
                <a:latin typeface="Monseratt semibold"/>
                <a:ea typeface="Aptos" panose="020B0004020202020204" pitchFamily="34" charset="0"/>
                <a:cs typeface="Times New Roman" panose="02020603050405020304" pitchFamily="18" charset="0"/>
              </a:rPr>
              <a:t>Companies need insights to predict churn early and implement customer retention strategies. </a:t>
            </a:r>
            <a:endParaRPr lang="en-US" sz="2400" dirty="0">
              <a:solidFill>
                <a:schemeClr val="bg1"/>
              </a:solidFill>
              <a:latin typeface="Monseratt semibold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DB539D-815E-A089-CC64-0D3CD3B03795}"/>
              </a:ext>
            </a:extLst>
          </p:cNvPr>
          <p:cNvSpPr txBox="1"/>
          <p:nvPr/>
        </p:nvSpPr>
        <p:spPr>
          <a:xfrm>
            <a:off x="539578" y="3784085"/>
            <a:ext cx="1165242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Monseratt semibold"/>
              </a:rPr>
              <a:t>3. </a:t>
            </a:r>
            <a:r>
              <a:rPr lang="en-IN" sz="2400" b="1" kern="100" dirty="0">
                <a:solidFill>
                  <a:srgbClr val="0B1A4A"/>
                </a:solidFill>
                <a:latin typeface="Monseratt semibold"/>
                <a:ea typeface="Aptos" panose="020B0004020202020204" pitchFamily="34" charset="0"/>
                <a:cs typeface="Times New Roman" panose="02020603050405020304" pitchFamily="18" charset="0"/>
              </a:rPr>
              <a:t>Interest in Data Analytics: </a:t>
            </a:r>
            <a:r>
              <a:rPr lang="en-IN" sz="2400" kern="100" dirty="0">
                <a:latin typeface="Monseratt semibold"/>
                <a:ea typeface="Aptos" panose="020B0004020202020204" pitchFamily="34" charset="0"/>
                <a:cs typeface="Times New Roman" panose="02020603050405020304" pitchFamily="18" charset="0"/>
              </a:rPr>
              <a:t>With growing interest in machine learning and big data, this project allows us to apply analytical and modelling skills to solve a real-world business problem. </a:t>
            </a:r>
            <a:endParaRPr lang="en-US" sz="2400" dirty="0">
              <a:solidFill>
                <a:schemeClr val="bg1"/>
              </a:solidFill>
              <a:latin typeface="Monseratt semibold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985F42-A825-E9C9-627F-3F44F881BF01}"/>
              </a:ext>
            </a:extLst>
          </p:cNvPr>
          <p:cNvSpPr txBox="1"/>
          <p:nvPr/>
        </p:nvSpPr>
        <p:spPr>
          <a:xfrm>
            <a:off x="507654" y="5069022"/>
            <a:ext cx="1117257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Monseratt semibold"/>
              </a:rPr>
              <a:t>4. </a:t>
            </a:r>
            <a:r>
              <a:rPr lang="en-IN" sz="2400" b="1" kern="100" dirty="0">
                <a:solidFill>
                  <a:srgbClr val="0B1A4A"/>
                </a:solidFill>
                <a:latin typeface="Monseratt semibold"/>
                <a:ea typeface="Aptos" panose="020B0004020202020204" pitchFamily="34" charset="0"/>
                <a:cs typeface="Times New Roman" panose="02020603050405020304" pitchFamily="18" charset="0"/>
              </a:rPr>
              <a:t>Career Relevance: </a:t>
            </a:r>
            <a:r>
              <a:rPr lang="en-IN" sz="2400" kern="100" dirty="0">
                <a:latin typeface="Monseratt semibold"/>
                <a:ea typeface="Aptos" panose="020B0004020202020204" pitchFamily="34" charset="0"/>
                <a:cs typeface="Times New Roman" panose="02020603050405020304" pitchFamily="18" charset="0"/>
              </a:rPr>
              <a:t>Customer analytics is a sought-after field in data science, aligning with our career goals in big data analytics. </a:t>
            </a:r>
            <a:endParaRPr lang="en-US" sz="2400" dirty="0">
              <a:solidFill>
                <a:schemeClr val="bg1"/>
              </a:solidFill>
              <a:latin typeface="Monseratt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27989613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81A84-FCD6-BA5C-DC5E-9384879A9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B8AB5AC-CDBD-5AF3-85CC-94E4167527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23"/>
          <a:stretch/>
        </p:blipFill>
        <p:spPr>
          <a:xfrm>
            <a:off x="8958648" y="0"/>
            <a:ext cx="3233351" cy="81253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B720257-0B5B-F01F-1CB2-EAF6BAF7445B}"/>
              </a:ext>
            </a:extLst>
          </p:cNvPr>
          <p:cNvSpPr txBox="1"/>
          <p:nvPr/>
        </p:nvSpPr>
        <p:spPr>
          <a:xfrm>
            <a:off x="1834979" y="812531"/>
            <a:ext cx="814928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en-US" sz="4400" b="1" u="sng" dirty="0">
                <a:latin typeface="Montserrat Semibold" panose="00000700000000000000" pitchFamily="2" charset="0"/>
                <a:cs typeface="Times New Roman" panose="02020603050405020304" pitchFamily="18" charset="0"/>
              </a:rPr>
              <a:t>Flow of Project Execution</a:t>
            </a:r>
            <a:endParaRPr lang="en-US" sz="4400" b="1" u="sng" dirty="0">
              <a:latin typeface="Montserrat Semibold" panose="000007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4DE22D-AEB9-5AF4-15BA-554D838A60D3}"/>
              </a:ext>
            </a:extLst>
          </p:cNvPr>
          <p:cNvSpPr txBox="1"/>
          <p:nvPr/>
        </p:nvSpPr>
        <p:spPr>
          <a:xfrm>
            <a:off x="1681032" y="2181653"/>
            <a:ext cx="31756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Monseratt semibold"/>
              </a:rPr>
              <a:t>1.</a:t>
            </a:r>
            <a:r>
              <a:rPr lang="en-US" sz="2800" dirty="0">
                <a:latin typeface="Monseratt semibold"/>
              </a:rPr>
              <a:t> </a:t>
            </a:r>
            <a:r>
              <a:rPr lang="en-IN" sz="2800" b="1" kern="100" dirty="0">
                <a:latin typeface="Monseratt semibold"/>
                <a:ea typeface="Aptos" panose="020B0004020202020204" pitchFamily="34" charset="0"/>
                <a:cs typeface="Times New Roman" panose="02020603050405020304" pitchFamily="18" charset="0"/>
              </a:rPr>
              <a:t>Data Collection </a:t>
            </a:r>
            <a:endParaRPr lang="en-IN" sz="2800" dirty="0"/>
          </a:p>
        </p:txBody>
      </p:sp>
      <p:sp>
        <p:nvSpPr>
          <p:cNvPr id="19" name="L-Shape 18">
            <a:extLst>
              <a:ext uri="{FF2B5EF4-FFF2-40B4-BE49-F238E27FC236}">
                <a16:creationId xmlns:a16="http://schemas.microsoft.com/office/drawing/2014/main" id="{0269B46F-1CB4-1B94-D637-A141BDB365A5}"/>
              </a:ext>
            </a:extLst>
          </p:cNvPr>
          <p:cNvSpPr/>
          <p:nvPr/>
        </p:nvSpPr>
        <p:spPr>
          <a:xfrm>
            <a:off x="2728809" y="3379522"/>
            <a:ext cx="6573793" cy="334889"/>
          </a:xfrm>
          <a:prstGeom prst="corner">
            <a:avLst>
              <a:gd name="adj1" fmla="val 20481"/>
              <a:gd name="adj2" fmla="val 2048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L-Shape 19">
            <a:extLst>
              <a:ext uri="{FF2B5EF4-FFF2-40B4-BE49-F238E27FC236}">
                <a16:creationId xmlns:a16="http://schemas.microsoft.com/office/drawing/2014/main" id="{BE775082-C265-20F3-050B-7A29C95FC22D}"/>
              </a:ext>
            </a:extLst>
          </p:cNvPr>
          <p:cNvSpPr/>
          <p:nvPr/>
        </p:nvSpPr>
        <p:spPr>
          <a:xfrm>
            <a:off x="3290963" y="3858277"/>
            <a:ext cx="6573792" cy="334888"/>
          </a:xfrm>
          <a:prstGeom prst="corner">
            <a:avLst>
              <a:gd name="adj1" fmla="val 20481"/>
              <a:gd name="adj2" fmla="val 2048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1650238-E574-FABC-712E-15F8BB59B584}"/>
              </a:ext>
            </a:extLst>
          </p:cNvPr>
          <p:cNvSpPr txBox="1"/>
          <p:nvPr/>
        </p:nvSpPr>
        <p:spPr>
          <a:xfrm>
            <a:off x="2080326" y="2680697"/>
            <a:ext cx="353608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atin typeface="Monseratt semibold"/>
              </a:rPr>
              <a:t>2.</a:t>
            </a:r>
            <a:r>
              <a:rPr lang="en-US" sz="2800" dirty="0">
                <a:latin typeface="Monseratt semibold"/>
              </a:rPr>
              <a:t> </a:t>
            </a:r>
            <a:r>
              <a:rPr lang="en-IN" sz="2800" b="1" kern="100" dirty="0">
                <a:latin typeface="Monseratt semibold"/>
                <a:ea typeface="Aptos" panose="020B0004020202020204" pitchFamily="34" charset="0"/>
                <a:cs typeface="Times New Roman" panose="02020603050405020304" pitchFamily="18" charset="0"/>
              </a:rPr>
              <a:t>Data Preprocessing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9C8E489-9F97-F324-FB86-19DF1D9B7F04}"/>
              </a:ext>
            </a:extLst>
          </p:cNvPr>
          <p:cNvSpPr txBox="1"/>
          <p:nvPr/>
        </p:nvSpPr>
        <p:spPr>
          <a:xfrm>
            <a:off x="2657762" y="3191191"/>
            <a:ext cx="55203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atin typeface="Monseratt semibold"/>
              </a:rPr>
              <a:t>3. </a:t>
            </a:r>
            <a:r>
              <a:rPr lang="en-IN" sz="2800" b="1" kern="100" dirty="0">
                <a:latin typeface="Monseratt semibold"/>
                <a:ea typeface="Aptos" panose="020B0004020202020204" pitchFamily="34" charset="0"/>
                <a:cs typeface="Times New Roman" panose="02020603050405020304" pitchFamily="18" charset="0"/>
              </a:rPr>
              <a:t>Exploratory Data Analysis (EDA) </a:t>
            </a:r>
            <a:endParaRPr lang="en-US" sz="2800" b="1" dirty="0">
              <a:latin typeface="Monseratt semibold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16BB7CD-0DF7-E943-F82C-4C7B54D24FCD}"/>
              </a:ext>
            </a:extLst>
          </p:cNvPr>
          <p:cNvSpPr txBox="1"/>
          <p:nvPr/>
        </p:nvSpPr>
        <p:spPr>
          <a:xfrm>
            <a:off x="3290962" y="3673746"/>
            <a:ext cx="603563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atin typeface="Monseratt semibold"/>
              </a:rPr>
              <a:t>4. </a:t>
            </a:r>
            <a:r>
              <a:rPr lang="en-IN" sz="2800" b="1" kern="100" dirty="0">
                <a:latin typeface="Monseratt semibold"/>
                <a:ea typeface="Aptos" panose="020B0004020202020204" pitchFamily="34" charset="0"/>
                <a:cs typeface="Times New Roman" panose="02020603050405020304" pitchFamily="18" charset="0"/>
              </a:rPr>
              <a:t>Model Development and Evaluation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EE1EFBB-D1D9-671B-F296-A84853D029C4}"/>
              </a:ext>
            </a:extLst>
          </p:cNvPr>
          <p:cNvSpPr txBox="1"/>
          <p:nvPr/>
        </p:nvSpPr>
        <p:spPr>
          <a:xfrm>
            <a:off x="3862937" y="4150432"/>
            <a:ext cx="671714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kern="100" dirty="0">
                <a:latin typeface="Monseratt semibold"/>
                <a:ea typeface="Aptos" panose="020B0004020202020204" pitchFamily="34" charset="0"/>
                <a:cs typeface="Times New Roman" panose="02020603050405020304" pitchFamily="18" charset="0"/>
              </a:rPr>
              <a:t>5. Frontend Deployment</a:t>
            </a:r>
            <a:endParaRPr lang="en-IN" sz="2800" dirty="0"/>
          </a:p>
        </p:txBody>
      </p:sp>
      <p:sp>
        <p:nvSpPr>
          <p:cNvPr id="29" name="L-Shape 28">
            <a:extLst>
              <a:ext uri="{FF2B5EF4-FFF2-40B4-BE49-F238E27FC236}">
                <a16:creationId xmlns:a16="http://schemas.microsoft.com/office/drawing/2014/main" id="{65B57B1B-77DD-6C57-3A4B-2368AB9B558F}"/>
              </a:ext>
            </a:extLst>
          </p:cNvPr>
          <p:cNvSpPr/>
          <p:nvPr/>
        </p:nvSpPr>
        <p:spPr>
          <a:xfrm>
            <a:off x="3851757" y="4338764"/>
            <a:ext cx="6573791" cy="334888"/>
          </a:xfrm>
          <a:prstGeom prst="corner">
            <a:avLst>
              <a:gd name="adj1" fmla="val 20481"/>
              <a:gd name="adj2" fmla="val 2048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B60288A-583A-F5B4-AB71-FAD5F6FBC514}"/>
              </a:ext>
            </a:extLst>
          </p:cNvPr>
          <p:cNvSpPr txBox="1"/>
          <p:nvPr/>
        </p:nvSpPr>
        <p:spPr>
          <a:xfrm>
            <a:off x="4385766" y="4626001"/>
            <a:ext cx="710940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kern="100" dirty="0">
                <a:latin typeface="Monseratt semibold"/>
                <a:ea typeface="Aptos" panose="020B0004020202020204" pitchFamily="34" charset="0"/>
                <a:cs typeface="Times New Roman" panose="02020603050405020304" pitchFamily="18" charset="0"/>
              </a:rPr>
              <a:t>6. {Feature} Insights &amp; Recommendations   </a:t>
            </a:r>
            <a:endParaRPr lang="en-IN" sz="2800" dirty="0"/>
          </a:p>
        </p:txBody>
      </p:sp>
      <p:sp>
        <p:nvSpPr>
          <p:cNvPr id="33" name="L-Shape 32">
            <a:extLst>
              <a:ext uri="{FF2B5EF4-FFF2-40B4-BE49-F238E27FC236}">
                <a16:creationId xmlns:a16="http://schemas.microsoft.com/office/drawing/2014/main" id="{5F32FF18-143D-7A84-8949-5B3E38F89730}"/>
              </a:ext>
            </a:extLst>
          </p:cNvPr>
          <p:cNvSpPr/>
          <p:nvPr/>
        </p:nvSpPr>
        <p:spPr>
          <a:xfrm>
            <a:off x="4958487" y="5278282"/>
            <a:ext cx="6573791" cy="334888"/>
          </a:xfrm>
          <a:prstGeom prst="corner">
            <a:avLst>
              <a:gd name="adj1" fmla="val 20481"/>
              <a:gd name="adj2" fmla="val 2048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A71DAF7-CE32-FABF-D953-8ABBEFEB8929}"/>
              </a:ext>
            </a:extLst>
          </p:cNvPr>
          <p:cNvSpPr txBox="1"/>
          <p:nvPr/>
        </p:nvSpPr>
        <p:spPr>
          <a:xfrm>
            <a:off x="4958487" y="5077591"/>
            <a:ext cx="43977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Monseratt semibold"/>
              </a:rPr>
              <a:t>7.</a:t>
            </a:r>
            <a:r>
              <a:rPr lang="en-US" sz="2800" dirty="0">
                <a:latin typeface="Monseratt semibold"/>
              </a:rPr>
              <a:t> </a:t>
            </a:r>
            <a:r>
              <a:rPr lang="en-IN" sz="2800" b="1" kern="100" dirty="0">
                <a:latin typeface="Monseratt semibold"/>
                <a:cs typeface="Times New Roman" panose="02020603050405020304" pitchFamily="18" charset="0"/>
              </a:rPr>
              <a:t>List of Research Paper</a:t>
            </a:r>
            <a:r>
              <a:rPr lang="en-IN" sz="2800" b="1" kern="100" dirty="0">
                <a:latin typeface="Monseratt semibold"/>
                <a:ea typeface="Aptos" panose="020B0004020202020204" pitchFamily="34" charset="0"/>
                <a:cs typeface="Times New Roman" panose="02020603050405020304" pitchFamily="18" charset="0"/>
              </a:rPr>
              <a:t>s </a:t>
            </a:r>
            <a:endParaRPr lang="en-IN" sz="2800" dirty="0"/>
          </a:p>
        </p:txBody>
      </p:sp>
      <p:sp>
        <p:nvSpPr>
          <p:cNvPr id="36" name="L-Shape 35">
            <a:extLst>
              <a:ext uri="{FF2B5EF4-FFF2-40B4-BE49-F238E27FC236}">
                <a16:creationId xmlns:a16="http://schemas.microsoft.com/office/drawing/2014/main" id="{F48EB010-ADC2-A6B4-B5BC-E5E7741171AF}"/>
              </a:ext>
            </a:extLst>
          </p:cNvPr>
          <p:cNvSpPr/>
          <p:nvPr/>
        </p:nvSpPr>
        <p:spPr>
          <a:xfrm>
            <a:off x="1569824" y="2370340"/>
            <a:ext cx="6573792" cy="334888"/>
          </a:xfrm>
          <a:prstGeom prst="corner">
            <a:avLst>
              <a:gd name="adj1" fmla="val 20481"/>
              <a:gd name="adj2" fmla="val 2048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L-Shape 36">
            <a:extLst>
              <a:ext uri="{FF2B5EF4-FFF2-40B4-BE49-F238E27FC236}">
                <a16:creationId xmlns:a16="http://schemas.microsoft.com/office/drawing/2014/main" id="{173B7DF3-1C98-74F7-27CE-5C553269554B}"/>
              </a:ext>
            </a:extLst>
          </p:cNvPr>
          <p:cNvSpPr/>
          <p:nvPr/>
        </p:nvSpPr>
        <p:spPr>
          <a:xfrm>
            <a:off x="2113285" y="2845637"/>
            <a:ext cx="6573792" cy="334888"/>
          </a:xfrm>
          <a:prstGeom prst="corner">
            <a:avLst>
              <a:gd name="adj1" fmla="val 20481"/>
              <a:gd name="adj2" fmla="val 2048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L-Shape 2">
            <a:extLst>
              <a:ext uri="{FF2B5EF4-FFF2-40B4-BE49-F238E27FC236}">
                <a16:creationId xmlns:a16="http://schemas.microsoft.com/office/drawing/2014/main" id="{AD3338AC-4275-F892-4EAD-533F01C7A0AD}"/>
              </a:ext>
            </a:extLst>
          </p:cNvPr>
          <p:cNvSpPr/>
          <p:nvPr/>
        </p:nvSpPr>
        <p:spPr>
          <a:xfrm>
            <a:off x="4385766" y="4801719"/>
            <a:ext cx="6573791" cy="334888"/>
          </a:xfrm>
          <a:prstGeom prst="corner">
            <a:avLst>
              <a:gd name="adj1" fmla="val 20481"/>
              <a:gd name="adj2" fmla="val 2048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19760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DC1E3-1299-0CDA-B5FD-29C0B9F11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F487E37-7557-DEE6-3FE8-5359C716D7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23"/>
          <a:stretch/>
        </p:blipFill>
        <p:spPr>
          <a:xfrm>
            <a:off x="8958648" y="0"/>
            <a:ext cx="3233351" cy="81253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79EA502-72F2-3C99-3867-03C5C8BC0786}"/>
              </a:ext>
            </a:extLst>
          </p:cNvPr>
          <p:cNvSpPr txBox="1"/>
          <p:nvPr/>
        </p:nvSpPr>
        <p:spPr>
          <a:xfrm>
            <a:off x="1865870" y="812531"/>
            <a:ext cx="824195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en-US" sz="4400" b="1" u="sng" dirty="0">
                <a:latin typeface="Monseratt semibold"/>
                <a:cs typeface="Times New Roman" panose="02020603050405020304" pitchFamily="18" charset="0"/>
              </a:rPr>
              <a:t>Flow of Project Execution (Details)</a:t>
            </a:r>
            <a:endParaRPr lang="en-US" sz="4400" b="1" u="sng" dirty="0">
              <a:latin typeface="Monseratt semibol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70769E-758D-6FED-A6FC-E5564B559594}"/>
              </a:ext>
            </a:extLst>
          </p:cNvPr>
          <p:cNvSpPr txBox="1"/>
          <p:nvPr/>
        </p:nvSpPr>
        <p:spPr>
          <a:xfrm>
            <a:off x="282145" y="1581972"/>
            <a:ext cx="11627710" cy="19715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sz="2400" b="1" kern="100" dirty="0">
                <a:solidFill>
                  <a:srgbClr val="0B1A4A"/>
                </a:solidFill>
                <a:latin typeface="Monseratt semibold"/>
                <a:ea typeface="Aptos" panose="020B0004020202020204" pitchFamily="34" charset="0"/>
                <a:cs typeface="Times New Roman" panose="02020603050405020304" pitchFamily="18" charset="0"/>
              </a:rPr>
              <a:t>1. Data Collection  </a:t>
            </a:r>
          </a:p>
          <a:p>
            <a:pPr marL="444500" indent="-444500">
              <a:lnSpc>
                <a:spcPct val="115000"/>
              </a:lnSpc>
              <a:spcAft>
                <a:spcPts val="800"/>
              </a:spcAft>
            </a:pPr>
            <a:r>
              <a:rPr lang="en-IN" sz="2400" kern="100" dirty="0">
                <a:latin typeface="Monseratt semibold"/>
                <a:ea typeface="Aptos" panose="020B0004020202020204" pitchFamily="34" charset="0"/>
                <a:cs typeface="Times New Roman" panose="02020603050405020304" pitchFamily="18" charset="0"/>
              </a:rPr>
              <a:t>   - Gather large-scale historical data (e.g., customer transactions, usage history, demographics).  </a:t>
            </a:r>
          </a:p>
          <a:p>
            <a:pPr marL="444500" indent="-444500">
              <a:lnSpc>
                <a:spcPct val="115000"/>
              </a:lnSpc>
              <a:spcAft>
                <a:spcPts val="800"/>
              </a:spcAft>
            </a:pPr>
            <a:r>
              <a:rPr lang="en-IN" sz="2400" kern="100" dirty="0">
                <a:latin typeface="Monseratt semibold"/>
                <a:ea typeface="Aptos" panose="020B0004020202020204" pitchFamily="34" charset="0"/>
                <a:cs typeface="Times New Roman" panose="02020603050405020304" pitchFamily="18" charset="0"/>
              </a:rPr>
              <a:t>   - Data sources: company databases, open datasets (Kaggle), or simulated data. </a:t>
            </a:r>
            <a:endParaRPr lang="en-US" sz="2400" dirty="0">
              <a:solidFill>
                <a:schemeClr val="bg1"/>
              </a:solidFill>
              <a:latin typeface="Monseratt semi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4BF2F4-221F-63D5-A3D1-F53DCBB454F9}"/>
              </a:ext>
            </a:extLst>
          </p:cNvPr>
          <p:cNvSpPr txBox="1"/>
          <p:nvPr/>
        </p:nvSpPr>
        <p:spPr>
          <a:xfrm>
            <a:off x="282145" y="3641905"/>
            <a:ext cx="10956326" cy="2498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2400" b="1" dirty="0">
                <a:solidFill>
                  <a:srgbClr val="0B1A4A"/>
                </a:solidFill>
                <a:latin typeface="Monseratt semibold"/>
              </a:rPr>
              <a:t>2. </a:t>
            </a:r>
            <a:r>
              <a:rPr lang="en-IN" sz="2400" b="1" kern="100" dirty="0">
                <a:solidFill>
                  <a:srgbClr val="0B1A4A"/>
                </a:solidFill>
                <a:latin typeface="Monseratt semibold"/>
                <a:ea typeface="Aptos" panose="020B0004020202020204" pitchFamily="34" charset="0"/>
                <a:cs typeface="Times New Roman" panose="02020603050405020304" pitchFamily="18" charset="0"/>
              </a:rPr>
              <a:t>Data Preprocessing  </a:t>
            </a:r>
          </a:p>
          <a:p>
            <a:pPr marL="271463" indent="-271463">
              <a:lnSpc>
                <a:spcPct val="115000"/>
              </a:lnSpc>
              <a:spcAft>
                <a:spcPts val="800"/>
              </a:spcAft>
            </a:pPr>
            <a:r>
              <a:rPr lang="en-IN" sz="2400" kern="100" dirty="0">
                <a:latin typeface="Monseratt semibold"/>
                <a:ea typeface="Aptos" panose="020B0004020202020204" pitchFamily="34" charset="0"/>
                <a:cs typeface="Times New Roman" panose="02020603050405020304" pitchFamily="18" charset="0"/>
              </a:rPr>
              <a:t>   - Clean the data: Handle missing values, outliers, and duplicates.  </a:t>
            </a:r>
          </a:p>
          <a:p>
            <a:pPr marL="271463" indent="-271463">
              <a:lnSpc>
                <a:spcPct val="115000"/>
              </a:lnSpc>
              <a:spcAft>
                <a:spcPts val="800"/>
              </a:spcAft>
            </a:pPr>
            <a:r>
              <a:rPr lang="en-IN" sz="2400" kern="100" dirty="0">
                <a:latin typeface="Monseratt semibold"/>
                <a:ea typeface="Aptos" panose="020B0004020202020204" pitchFamily="34" charset="0"/>
                <a:cs typeface="Times New Roman" panose="02020603050405020304" pitchFamily="18" charset="0"/>
              </a:rPr>
              <a:t>   - Feature engineering: Create new features like “average purchase frequency” or “time since last transaction.”  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sz="2400" kern="100" dirty="0">
                <a:latin typeface="Monseratt semibold"/>
                <a:ea typeface="Aptos" panose="020B0004020202020204" pitchFamily="34" charset="0"/>
                <a:cs typeface="Times New Roman" panose="02020603050405020304" pitchFamily="18" charset="0"/>
              </a:rPr>
              <a:t>   - Normalize and transform data for model training.  </a:t>
            </a:r>
            <a:endParaRPr lang="en-US" sz="2400" dirty="0">
              <a:solidFill>
                <a:schemeClr val="bg1"/>
              </a:solidFill>
              <a:latin typeface="Monseratt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13888864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19C1A-90B4-0A41-EE36-98DDCD6B4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C9237B9-8E23-BA97-01AD-2D142F3EBB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23"/>
          <a:stretch/>
        </p:blipFill>
        <p:spPr>
          <a:xfrm>
            <a:off x="8958648" y="0"/>
            <a:ext cx="3233351" cy="81253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9C7B251-46D8-3750-46CB-F6A0DEDE24C2}"/>
              </a:ext>
            </a:extLst>
          </p:cNvPr>
          <p:cNvSpPr txBox="1"/>
          <p:nvPr/>
        </p:nvSpPr>
        <p:spPr>
          <a:xfrm>
            <a:off x="1865870" y="812531"/>
            <a:ext cx="824195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en-US" sz="4400" b="1" u="sng" dirty="0">
                <a:latin typeface="Monseratt semibold"/>
                <a:cs typeface="Times New Roman" panose="02020603050405020304" pitchFamily="18" charset="0"/>
              </a:rPr>
              <a:t>Flow of Project Execution (Details)</a:t>
            </a:r>
            <a:endParaRPr lang="en-US" sz="4400" b="1" u="sng" dirty="0">
              <a:latin typeface="Monseratt semibol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463D13-5090-80D9-1F1E-DA15B1AA5659}"/>
              </a:ext>
            </a:extLst>
          </p:cNvPr>
          <p:cNvSpPr txBox="1"/>
          <p:nvPr/>
        </p:nvSpPr>
        <p:spPr>
          <a:xfrm>
            <a:off x="714632" y="1581972"/>
            <a:ext cx="10762736" cy="19715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sz="2400" b="1" kern="100" dirty="0">
                <a:solidFill>
                  <a:srgbClr val="0B1A4A"/>
                </a:solidFill>
                <a:latin typeface="Monseratt semibold"/>
                <a:ea typeface="Aptos" panose="020B0004020202020204" pitchFamily="34" charset="0"/>
                <a:cs typeface="Times New Roman" panose="02020603050405020304" pitchFamily="18" charset="0"/>
              </a:rPr>
              <a:t>3. Exploratory Data Analysis (EDA)  </a:t>
            </a:r>
          </a:p>
          <a:p>
            <a:pPr marL="444500" indent="-444500">
              <a:lnSpc>
                <a:spcPct val="115000"/>
              </a:lnSpc>
              <a:spcAft>
                <a:spcPts val="800"/>
              </a:spcAft>
            </a:pPr>
            <a:r>
              <a:rPr lang="en-IN" sz="2400" kern="100" dirty="0">
                <a:latin typeface="Monseratt semibold"/>
                <a:ea typeface="Aptos" panose="020B0004020202020204" pitchFamily="34" charset="0"/>
                <a:cs typeface="Times New Roman" panose="02020603050405020304" pitchFamily="18" charset="0"/>
              </a:rPr>
              <a:t>   - Analyse data patterns to understand key factors contributing to churn.  </a:t>
            </a:r>
          </a:p>
          <a:p>
            <a:pPr marL="358775" indent="-358775">
              <a:lnSpc>
                <a:spcPct val="115000"/>
              </a:lnSpc>
              <a:spcAft>
                <a:spcPts val="800"/>
              </a:spcAft>
            </a:pPr>
            <a:r>
              <a:rPr lang="en-IN" sz="2400" kern="100" dirty="0">
                <a:latin typeface="Monseratt semibold"/>
                <a:ea typeface="Aptos" panose="020B0004020202020204" pitchFamily="34" charset="0"/>
                <a:cs typeface="Times New Roman" panose="02020603050405020304" pitchFamily="18" charset="0"/>
              </a:rPr>
              <a:t>   - Visualizations: Customer trends, behaviour metrics, churn vs. non-churn comparisons.</a:t>
            </a:r>
            <a:endParaRPr lang="en-US" sz="2400" dirty="0">
              <a:solidFill>
                <a:schemeClr val="bg1"/>
              </a:solidFill>
              <a:latin typeface="Monseratt semibold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3960F9-E0C4-A4D2-C97B-4CAC7E7D92B9}"/>
              </a:ext>
            </a:extLst>
          </p:cNvPr>
          <p:cNvSpPr txBox="1"/>
          <p:nvPr/>
        </p:nvSpPr>
        <p:spPr>
          <a:xfrm>
            <a:off x="714632" y="3429000"/>
            <a:ext cx="11063416" cy="30733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sz="2400" b="1" kern="100" dirty="0">
                <a:solidFill>
                  <a:srgbClr val="0B1A4A"/>
                </a:solidFill>
                <a:latin typeface="Monseratt semibold"/>
                <a:ea typeface="Aptos" panose="020B0004020202020204" pitchFamily="34" charset="0"/>
                <a:cs typeface="Times New Roman" panose="02020603050405020304" pitchFamily="18" charset="0"/>
              </a:rPr>
              <a:t>4. Model Development  </a:t>
            </a:r>
          </a:p>
          <a:p>
            <a:pPr marL="221607" indent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2400" kern="100" dirty="0">
                <a:latin typeface="Monseratt semibold"/>
                <a:ea typeface="Aptos" panose="020B0004020202020204" pitchFamily="34" charset="0"/>
                <a:cs typeface="Times New Roman" panose="02020603050405020304" pitchFamily="18" charset="0"/>
              </a:rPr>
              <a:t>- Use machine learning algorithms to develop the predictive model.   </a:t>
            </a:r>
          </a:p>
          <a:p>
            <a:pPr marL="221607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2400" kern="100" dirty="0">
                <a:latin typeface="Monseratt semibold"/>
                <a:ea typeface="Aptos" panose="020B0004020202020204" pitchFamily="34" charset="0"/>
                <a:cs typeface="Times New Roman" panose="02020603050405020304" pitchFamily="18" charset="0"/>
              </a:rPr>
              <a:t>- Logistic Regression (baseline model).  </a:t>
            </a:r>
          </a:p>
          <a:p>
            <a:pPr marL="271463" indent="-85725">
              <a:lnSpc>
                <a:spcPct val="115000"/>
              </a:lnSpc>
              <a:spcAft>
                <a:spcPts val="800"/>
              </a:spcAft>
              <a:tabLst>
                <a:tab pos="444500" algn="l"/>
              </a:tabLst>
            </a:pPr>
            <a:r>
              <a:rPr lang="en-IN" sz="2400" kern="100" dirty="0">
                <a:latin typeface="Monseratt semibold"/>
                <a:ea typeface="Aptos" panose="020B0004020202020204" pitchFamily="34" charset="0"/>
                <a:cs typeface="Times New Roman" panose="02020603050405020304" pitchFamily="18" charset="0"/>
              </a:rPr>
              <a:t>- Random Forest and XGBoost (for accuracy improvements).  </a:t>
            </a:r>
          </a:p>
          <a:p>
            <a:pPr marL="221607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2400" kern="100" dirty="0">
                <a:latin typeface="Monseratt semibold"/>
                <a:ea typeface="Aptos" panose="020B0004020202020204" pitchFamily="34" charset="0"/>
                <a:cs typeface="Times New Roman" panose="02020603050405020304" pitchFamily="18" charset="0"/>
              </a:rPr>
              <a:t>- Deep Learning Models.  </a:t>
            </a:r>
          </a:p>
          <a:p>
            <a:pPr marL="221607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2400" kern="100" dirty="0">
                <a:latin typeface="Monseratt semibold"/>
                <a:ea typeface="Aptos" panose="020B0004020202020204" pitchFamily="34" charset="0"/>
                <a:cs typeface="Times New Roman" panose="02020603050405020304" pitchFamily="18" charset="0"/>
              </a:rPr>
              <a:t>- Split data into training and testing datasets for model evaluation.  </a:t>
            </a:r>
          </a:p>
        </p:txBody>
      </p:sp>
    </p:spTree>
    <p:extLst>
      <p:ext uri="{BB962C8B-B14F-4D97-AF65-F5344CB8AC3E}">
        <p14:creationId xmlns:p14="http://schemas.microsoft.com/office/powerpoint/2010/main" val="8655611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EACD2-A41D-E713-2710-B60E14E07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C1D2B56-8858-77E3-93BE-C34DAA5088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23"/>
          <a:stretch/>
        </p:blipFill>
        <p:spPr>
          <a:xfrm>
            <a:off x="8958648" y="0"/>
            <a:ext cx="3233351" cy="81253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41FA6DE-31EB-0915-017D-2A6B35A4A4E7}"/>
              </a:ext>
            </a:extLst>
          </p:cNvPr>
          <p:cNvSpPr txBox="1"/>
          <p:nvPr/>
        </p:nvSpPr>
        <p:spPr>
          <a:xfrm>
            <a:off x="1865870" y="812531"/>
            <a:ext cx="824195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en-US" sz="4400" b="1" u="sng" dirty="0">
                <a:latin typeface="Monseratt semibold"/>
                <a:cs typeface="Times New Roman" panose="02020603050405020304" pitchFamily="18" charset="0"/>
              </a:rPr>
              <a:t>Flow of Project Execution (Details)</a:t>
            </a:r>
            <a:endParaRPr lang="en-US" sz="4400" b="1" u="sng" dirty="0">
              <a:latin typeface="Monseratt semibol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4BC9CB-ABBE-437C-27F3-720F1E593958}"/>
              </a:ext>
            </a:extLst>
          </p:cNvPr>
          <p:cNvSpPr txBox="1"/>
          <p:nvPr/>
        </p:nvSpPr>
        <p:spPr>
          <a:xfrm>
            <a:off x="331573" y="1580961"/>
            <a:ext cx="1152885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</a:rPr>
              <a:t>5. Model Evaluation &amp; Selection:</a:t>
            </a:r>
            <a:endParaRPr lang="en-US" sz="2400" dirty="0">
              <a:solidFill>
                <a:srgbClr val="002060"/>
              </a:solidFill>
            </a:endParaRPr>
          </a:p>
          <a:p>
            <a:pPr marL="358775" indent="-184150"/>
            <a:r>
              <a:rPr lang="en-US" sz="2400" b="1" dirty="0"/>
              <a:t>- Evaluate model performance:</a:t>
            </a:r>
            <a:r>
              <a:rPr lang="en-US" sz="2400" dirty="0"/>
              <a:t> Use metrics like accuracy, precision, recall, F1-score, AUC-ROC.</a:t>
            </a:r>
          </a:p>
          <a:p>
            <a:pPr marL="358775" indent="-184150"/>
            <a:r>
              <a:rPr lang="en-US" sz="2400" b="1" dirty="0"/>
              <a:t>- Compare models:</a:t>
            </a:r>
            <a:r>
              <a:rPr lang="en-US" sz="2400" dirty="0"/>
              <a:t> Select the model with the best performance and the most suitable trade-off between accuracy and interpretability.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89E46A-8F73-00A1-06BC-AA3BBF55BA41}"/>
              </a:ext>
            </a:extLst>
          </p:cNvPr>
          <p:cNvSpPr txBox="1"/>
          <p:nvPr/>
        </p:nvSpPr>
        <p:spPr>
          <a:xfrm>
            <a:off x="331573" y="3519953"/>
            <a:ext cx="11804820" cy="14441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sz="2400" b="1" kern="100" dirty="0">
                <a:solidFill>
                  <a:srgbClr val="0B1A4A"/>
                </a:solidFill>
                <a:latin typeface="Monseratt semibold"/>
                <a:ea typeface="Aptos" panose="020B0004020202020204" pitchFamily="34" charset="0"/>
                <a:cs typeface="Times New Roman" panose="02020603050405020304" pitchFamily="18" charset="0"/>
              </a:rPr>
              <a:t>6. Deployment  </a:t>
            </a:r>
          </a:p>
          <a:p>
            <a:pPr marL="271463" indent="-271463">
              <a:lnSpc>
                <a:spcPct val="115000"/>
              </a:lnSpc>
              <a:spcAft>
                <a:spcPts val="800"/>
              </a:spcAft>
            </a:pPr>
            <a:r>
              <a:rPr lang="en-IN" sz="2400" kern="100" dirty="0">
                <a:latin typeface="Monseratt semibold"/>
                <a:ea typeface="Aptos" panose="020B0004020202020204" pitchFamily="34" charset="0"/>
                <a:cs typeface="Times New Roman" panose="02020603050405020304" pitchFamily="18" charset="0"/>
              </a:rPr>
              <a:t>   - Deploy the model to predict churn on new data (e.g., a cloud platform like firebase will be used.). </a:t>
            </a:r>
            <a:endParaRPr lang="en-US" sz="2400" dirty="0">
              <a:solidFill>
                <a:schemeClr val="bg1"/>
              </a:solidFill>
              <a:latin typeface="Monseratt semibold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D12314C-42C5-0CE7-9053-4B3D4592124F}"/>
              </a:ext>
            </a:extLst>
          </p:cNvPr>
          <p:cNvSpPr txBox="1"/>
          <p:nvPr/>
        </p:nvSpPr>
        <p:spPr>
          <a:xfrm>
            <a:off x="331573" y="4964131"/>
            <a:ext cx="12097264" cy="1546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sz="2400" b="1" kern="100" dirty="0">
                <a:solidFill>
                  <a:srgbClr val="0B1A4A"/>
                </a:solidFill>
                <a:latin typeface="Monseratt semibold"/>
                <a:ea typeface="Aptos" panose="020B0004020202020204" pitchFamily="34" charset="0"/>
                <a:cs typeface="Times New Roman" panose="02020603050405020304" pitchFamily="18" charset="0"/>
              </a:rPr>
              <a:t>7. Insights &amp; Recommendations </a:t>
            </a:r>
            <a:r>
              <a:rPr lang="en-IN" sz="2400" b="1" kern="100" dirty="0">
                <a:latin typeface="Monseratt semibold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sz="2400" kern="100" dirty="0">
                <a:latin typeface="Monseratt semibold"/>
                <a:ea typeface="Aptos" panose="020B0004020202020204" pitchFamily="34" charset="0"/>
                <a:cs typeface="Times New Roman" panose="02020603050405020304" pitchFamily="18" charset="0"/>
              </a:rPr>
              <a:t>   - Identify high-risk customers.  </a:t>
            </a:r>
          </a:p>
          <a:p>
            <a:pPr marL="271463" indent="-271463">
              <a:lnSpc>
                <a:spcPct val="115000"/>
              </a:lnSpc>
              <a:spcAft>
                <a:spcPts val="800"/>
              </a:spcAft>
            </a:pPr>
            <a:r>
              <a:rPr lang="en-IN" sz="2400" kern="100" dirty="0">
                <a:latin typeface="Monseratt semibold"/>
                <a:ea typeface="Aptos" panose="020B0004020202020204" pitchFamily="34" charset="0"/>
                <a:cs typeface="Times New Roman" panose="02020603050405020304" pitchFamily="18" charset="0"/>
              </a:rPr>
              <a:t>   - Suggest actionable strategies: Loyalty programs, targeted campaigns, or personalized offers.</a:t>
            </a:r>
          </a:p>
        </p:txBody>
      </p:sp>
    </p:spTree>
    <p:extLst>
      <p:ext uri="{BB962C8B-B14F-4D97-AF65-F5344CB8AC3E}">
        <p14:creationId xmlns:p14="http://schemas.microsoft.com/office/powerpoint/2010/main" val="3350591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1B1C1-BFAA-F176-AAC5-3371064FF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24721CC-D37A-BFFE-212C-62330AA7A1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23"/>
          <a:stretch/>
        </p:blipFill>
        <p:spPr>
          <a:xfrm>
            <a:off x="8958648" y="0"/>
            <a:ext cx="3233351" cy="81253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3640CB1-B414-9B29-82D8-EDBBA42FFA51}"/>
              </a:ext>
            </a:extLst>
          </p:cNvPr>
          <p:cNvSpPr txBox="1"/>
          <p:nvPr/>
        </p:nvSpPr>
        <p:spPr>
          <a:xfrm>
            <a:off x="1925594" y="812531"/>
            <a:ext cx="83408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en-US" sz="4400" b="1" u="sng" dirty="0">
                <a:latin typeface="Monseratt semibold"/>
                <a:cs typeface="Times New Roman" panose="02020603050405020304" pitchFamily="18" charset="0"/>
              </a:rPr>
              <a:t>Innovation Modules in this Project</a:t>
            </a:r>
            <a:endParaRPr lang="en-US" sz="4400" b="1" u="sng" dirty="0">
              <a:latin typeface="Monseratt semibol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792343-0133-39FD-247D-0F37DF58A658}"/>
              </a:ext>
            </a:extLst>
          </p:cNvPr>
          <p:cNvSpPr txBox="1"/>
          <p:nvPr/>
        </p:nvSpPr>
        <p:spPr>
          <a:xfrm>
            <a:off x="2" y="1567575"/>
            <a:ext cx="12191998" cy="1341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52431" indent="-285740">
              <a:lnSpc>
                <a:spcPct val="115000"/>
              </a:lnSpc>
              <a:buFont typeface="Wingdings" panose="05000000000000000000" pitchFamily="2" charset="2"/>
              <a:buChar char="Ø"/>
            </a:pPr>
            <a:r>
              <a:rPr lang="en-IN" sz="2400" b="1" kern="100" dirty="0">
                <a:solidFill>
                  <a:srgbClr val="0B1A4A"/>
                </a:solidFill>
                <a:latin typeface="Monseratt semibold"/>
                <a:ea typeface="Aptos" panose="020B0004020202020204" pitchFamily="34" charset="0"/>
                <a:cs typeface="Times New Roman" panose="02020603050405020304" pitchFamily="18" charset="0"/>
              </a:rPr>
              <a:t> Scalable and Efficient:  </a:t>
            </a:r>
          </a:p>
          <a:p>
            <a:pPr marL="685777" indent="0">
              <a:lnSpc>
                <a:spcPct val="115000"/>
              </a:lnSpc>
              <a:buNone/>
            </a:pPr>
            <a:r>
              <a:rPr lang="en-IN" sz="2400" kern="100" dirty="0">
                <a:latin typeface="Monseratt semibold"/>
                <a:ea typeface="Aptos" panose="020B0004020202020204" pitchFamily="34" charset="0"/>
                <a:cs typeface="Times New Roman" panose="02020603050405020304" pitchFamily="18" charset="0"/>
              </a:rPr>
              <a:t>The use of big data analytics allows the system to handle massive datasets effectively, ensuring scalability.  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D9A99F-70E0-76CA-C967-305F4811CDD7}"/>
              </a:ext>
            </a:extLst>
          </p:cNvPr>
          <p:cNvSpPr txBox="1"/>
          <p:nvPr/>
        </p:nvSpPr>
        <p:spPr>
          <a:xfrm>
            <a:off x="0" y="2906281"/>
            <a:ext cx="11545326" cy="1341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52431" indent="-285740">
              <a:lnSpc>
                <a:spcPct val="115000"/>
              </a:lnSpc>
              <a:buFont typeface="Wingdings" panose="05000000000000000000" pitchFamily="2" charset="2"/>
              <a:buChar char="Ø"/>
            </a:pPr>
            <a:r>
              <a:rPr lang="en-IN" sz="2400" b="1" kern="100" dirty="0">
                <a:solidFill>
                  <a:srgbClr val="0B1A4A"/>
                </a:solidFill>
                <a:latin typeface="Monseratt semibold"/>
                <a:ea typeface="Aptos" panose="020B0004020202020204" pitchFamily="34" charset="0"/>
                <a:cs typeface="Times New Roman" panose="02020603050405020304" pitchFamily="18" charset="0"/>
              </a:rPr>
              <a:t>Model Optimization:  </a:t>
            </a:r>
          </a:p>
          <a:p>
            <a:pPr marL="685777" indent="0">
              <a:lnSpc>
                <a:spcPct val="115000"/>
              </a:lnSpc>
              <a:buNone/>
            </a:pPr>
            <a:r>
              <a:rPr lang="en-IN" sz="2400" kern="100" dirty="0">
                <a:latin typeface="Monseratt semibold"/>
                <a:ea typeface="Aptos" panose="020B0004020202020204" pitchFamily="34" charset="0"/>
                <a:cs typeface="Times New Roman" panose="02020603050405020304" pitchFamily="18" charset="0"/>
              </a:rPr>
              <a:t>Implement ensemble techniques (e.g., Random Forest or XGBoost) to achieve high predictive accuracy.  </a:t>
            </a:r>
            <a:endParaRPr lang="en-US" sz="2400" dirty="0">
              <a:solidFill>
                <a:schemeClr val="bg1"/>
              </a:solidFill>
              <a:latin typeface="Monseratt semibold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7B150A-6139-FC99-7E37-D5F52FA4D960}"/>
              </a:ext>
            </a:extLst>
          </p:cNvPr>
          <p:cNvSpPr txBox="1"/>
          <p:nvPr/>
        </p:nvSpPr>
        <p:spPr>
          <a:xfrm>
            <a:off x="0" y="4233470"/>
            <a:ext cx="11734798" cy="1341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52431" indent="-285740">
              <a:lnSpc>
                <a:spcPct val="115000"/>
              </a:lnSpc>
              <a:buFont typeface="Wingdings" panose="05000000000000000000" pitchFamily="2" charset="2"/>
              <a:buChar char="Ø"/>
            </a:pPr>
            <a:r>
              <a:rPr lang="en-IN" sz="2400" b="1" kern="100" dirty="0">
                <a:solidFill>
                  <a:srgbClr val="0B1A4A"/>
                </a:solidFill>
                <a:latin typeface="Monseratt semibold"/>
                <a:ea typeface="Aptos" panose="020B0004020202020204" pitchFamily="34" charset="0"/>
                <a:cs typeface="Times New Roman" panose="02020603050405020304" pitchFamily="18" charset="0"/>
              </a:rPr>
              <a:t>Insights Beyond Prediction:  </a:t>
            </a:r>
          </a:p>
          <a:p>
            <a:pPr marL="685777" indent="0">
              <a:lnSpc>
                <a:spcPct val="115000"/>
              </a:lnSpc>
              <a:buNone/>
            </a:pPr>
            <a:r>
              <a:rPr lang="en-IN" sz="2400" kern="100" dirty="0">
                <a:latin typeface="Monseratt semibold"/>
                <a:ea typeface="Aptos" panose="020B0004020202020204" pitchFamily="34" charset="0"/>
                <a:cs typeface="Times New Roman" panose="02020603050405020304" pitchFamily="18" charset="0"/>
              </a:rPr>
              <a:t>Not just predicting churn but identifying the key drivers of churn using feature importance analysis.   </a:t>
            </a:r>
          </a:p>
        </p:txBody>
      </p:sp>
    </p:spTree>
    <p:extLst>
      <p:ext uri="{BB962C8B-B14F-4D97-AF65-F5344CB8AC3E}">
        <p14:creationId xmlns:p14="http://schemas.microsoft.com/office/powerpoint/2010/main" val="8164818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02292-C02D-67FA-9DEA-967C4A23F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91CE874-D426-E0AB-735E-6D4ABE8821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23"/>
          <a:stretch/>
        </p:blipFill>
        <p:spPr>
          <a:xfrm>
            <a:off x="8958648" y="0"/>
            <a:ext cx="3233351" cy="81253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40E49A4-C7EC-7AE2-704A-2B7BC47DED2F}"/>
              </a:ext>
            </a:extLst>
          </p:cNvPr>
          <p:cNvSpPr txBox="1"/>
          <p:nvPr/>
        </p:nvSpPr>
        <p:spPr>
          <a:xfrm>
            <a:off x="1925594" y="812531"/>
            <a:ext cx="83408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en-US" sz="4400" b="1" u="sng" dirty="0">
                <a:latin typeface="Monseratt semibold"/>
                <a:cs typeface="Times New Roman" panose="02020603050405020304" pitchFamily="18" charset="0"/>
              </a:rPr>
              <a:t>Innovation Modules in this Project</a:t>
            </a:r>
            <a:endParaRPr lang="en-US" sz="4400" b="1" u="sng" dirty="0">
              <a:latin typeface="Monseratt semibol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EC085C-4903-836B-25EF-A84E78DE277F}"/>
              </a:ext>
            </a:extLst>
          </p:cNvPr>
          <p:cNvSpPr txBox="1"/>
          <p:nvPr/>
        </p:nvSpPr>
        <p:spPr>
          <a:xfrm>
            <a:off x="193589" y="1723710"/>
            <a:ext cx="11804822" cy="1341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52431" indent="-285740">
              <a:lnSpc>
                <a:spcPct val="115000"/>
              </a:lnSpc>
              <a:buFont typeface="Wingdings" panose="05000000000000000000" pitchFamily="2" charset="2"/>
              <a:buChar char="Ø"/>
            </a:pPr>
            <a:r>
              <a:rPr lang="en-IN" sz="2400" b="1" kern="100" dirty="0">
                <a:solidFill>
                  <a:srgbClr val="0B1A4A"/>
                </a:solidFill>
                <a:latin typeface="Monseratt semibold"/>
                <a:ea typeface="Aptos" panose="020B0004020202020204" pitchFamily="34" charset="0"/>
                <a:cs typeface="Times New Roman" panose="02020603050405020304" pitchFamily="18" charset="0"/>
              </a:rPr>
              <a:t>Customer-Centric Strategies:  </a:t>
            </a:r>
          </a:p>
          <a:p>
            <a:pPr marL="717526" indent="0">
              <a:lnSpc>
                <a:spcPct val="115000"/>
              </a:lnSpc>
              <a:buNone/>
            </a:pPr>
            <a:r>
              <a:rPr lang="en-IN" sz="2400" kern="100" dirty="0">
                <a:latin typeface="Monseratt semibold"/>
                <a:ea typeface="Aptos" panose="020B0004020202020204" pitchFamily="34" charset="0"/>
                <a:cs typeface="Times New Roman" panose="02020603050405020304" pitchFamily="18" charset="0"/>
              </a:rPr>
              <a:t>Provide actionable recommendations that organizations can immediately deploy to reduce churn rates. 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6CDF0E-E7A0-AC91-36D1-370662EAB8F7}"/>
              </a:ext>
            </a:extLst>
          </p:cNvPr>
          <p:cNvSpPr txBox="1"/>
          <p:nvPr/>
        </p:nvSpPr>
        <p:spPr>
          <a:xfrm>
            <a:off x="240957" y="3206932"/>
            <a:ext cx="11710086" cy="1358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52431" indent="-28574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IN" sz="2400" b="1" kern="100" dirty="0">
                <a:solidFill>
                  <a:srgbClr val="0B1A4A"/>
                </a:solidFill>
                <a:latin typeface="Monseratt semibold"/>
                <a:ea typeface="Aptos" panose="020B0004020202020204" pitchFamily="34" charset="0"/>
                <a:cs typeface="Times New Roman" panose="02020603050405020304" pitchFamily="18" charset="0"/>
              </a:rPr>
              <a:t>Future Enhancements: </a:t>
            </a:r>
            <a:r>
              <a:rPr lang="en-IN" sz="2400" b="1" kern="100" dirty="0">
                <a:latin typeface="Monseratt semibold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pPr marL="717526" indent="0">
              <a:buNone/>
            </a:pPr>
            <a:r>
              <a:rPr lang="en-IN" sz="2400" dirty="0">
                <a:latin typeface="Monseratt semibold"/>
                <a:ea typeface="Aptos" panose="020B0004020202020204" pitchFamily="34" charset="0"/>
                <a:cs typeface="Times New Roman" panose="02020603050405020304" pitchFamily="18" charset="0"/>
              </a:rPr>
              <a:t>Incorporate real-time predictions using streaming platforms like Apache Kafka for industries like telecom. 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4186204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5DDC5-F79F-FBC3-4C1F-FC77FCF2D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59F1EA6-A011-2DF4-B4F0-9A9ED41C61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23"/>
          <a:stretch/>
        </p:blipFill>
        <p:spPr>
          <a:xfrm>
            <a:off x="8958648" y="0"/>
            <a:ext cx="3233351" cy="81253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E97C39E-959C-4C8D-EB65-ECFE6DD1B427}"/>
              </a:ext>
            </a:extLst>
          </p:cNvPr>
          <p:cNvSpPr txBox="1"/>
          <p:nvPr/>
        </p:nvSpPr>
        <p:spPr>
          <a:xfrm>
            <a:off x="716561" y="2228671"/>
            <a:ext cx="1074639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4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IN" sz="7200" b="1" u="sng" dirty="0">
                <a:solidFill>
                  <a:srgbClr val="222222"/>
                </a:solidFill>
                <a:latin typeface="Monseratt semibold"/>
              </a:rPr>
              <a:t>I</a:t>
            </a:r>
            <a:r>
              <a:rPr lang="en-IN" sz="7200" b="1" i="0" u="sng" dirty="0">
                <a:solidFill>
                  <a:srgbClr val="222222"/>
                </a:solidFill>
                <a:effectLst/>
                <a:latin typeface="Monseratt semibold"/>
              </a:rPr>
              <a:t>mplementation of Project</a:t>
            </a:r>
            <a:endParaRPr kumimoji="0" lang="en-US" sz="44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seratt semi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3BDB91-7FEE-05B8-8F07-8E37EDD1E1BC}"/>
              </a:ext>
            </a:extLst>
          </p:cNvPr>
          <p:cNvSpPr txBox="1"/>
          <p:nvPr/>
        </p:nvSpPr>
        <p:spPr>
          <a:xfrm>
            <a:off x="4055075" y="3697261"/>
            <a:ext cx="40818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seratt semibold"/>
              </a:rPr>
              <a:t>By:- Adithya Vinod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729048" y="2394503"/>
            <a:ext cx="8229600" cy="306718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1463" indent="-271463">
              <a:buFont typeface="Arial" panose="020B0604020202020204" pitchFamily="34" charset="0"/>
              <a:buNone/>
            </a:pPr>
            <a:endParaRPr lang="en-IN" sz="2400" dirty="0">
              <a:solidFill>
                <a:schemeClr val="accent5"/>
              </a:solidFill>
              <a:latin typeface="Monseratt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4444464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CC06BE-E885-7CA6-1BE2-7D26957D7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EB4C5C8-10DB-F603-DC26-DF0A6AF6C7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23"/>
          <a:stretch/>
        </p:blipFill>
        <p:spPr>
          <a:xfrm>
            <a:off x="8958648" y="0"/>
            <a:ext cx="3233351" cy="81253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ADC7C37-D149-57FD-CA4D-F65284578162}"/>
              </a:ext>
            </a:extLst>
          </p:cNvPr>
          <p:cNvSpPr txBox="1"/>
          <p:nvPr/>
        </p:nvSpPr>
        <p:spPr>
          <a:xfrm>
            <a:off x="2837935" y="812531"/>
            <a:ext cx="651613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4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IN" sz="4400" b="1" u="sng" dirty="0">
                <a:solidFill>
                  <a:srgbClr val="222222"/>
                </a:solidFill>
                <a:latin typeface="Monseratt semibold"/>
              </a:rPr>
              <a:t>I</a:t>
            </a:r>
            <a:r>
              <a:rPr lang="en-IN" sz="4400" b="1" i="0" u="sng" dirty="0">
                <a:solidFill>
                  <a:srgbClr val="222222"/>
                </a:solidFill>
                <a:effectLst/>
                <a:latin typeface="Monseratt semibold"/>
              </a:rPr>
              <a:t>mplementation of Project</a:t>
            </a:r>
            <a:endParaRPr kumimoji="0" lang="en-US" sz="44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seratt semi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C1ACC0-B39B-6809-5481-97E45541AFA9}"/>
              </a:ext>
            </a:extLst>
          </p:cNvPr>
          <p:cNvSpPr txBox="1"/>
          <p:nvPr/>
        </p:nvSpPr>
        <p:spPr>
          <a:xfrm>
            <a:off x="292442" y="1581972"/>
            <a:ext cx="40818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3600" b="1" i="0" dirty="0">
                <a:solidFill>
                  <a:srgbClr val="222222"/>
                </a:solidFill>
                <a:effectLst/>
                <a:latin typeface="Monseratt semibold"/>
              </a:rPr>
              <a:t>1. Dataset Overview</a:t>
            </a:r>
            <a:endParaRPr kumimoji="0" lang="en-US" sz="44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seratt semibold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C6431C4-0F25-E683-4DE0-985AB6352589}"/>
              </a:ext>
            </a:extLst>
          </p:cNvPr>
          <p:cNvSpPr txBox="1">
            <a:spLocks/>
          </p:cNvSpPr>
          <p:nvPr/>
        </p:nvSpPr>
        <p:spPr>
          <a:xfrm>
            <a:off x="729048" y="2394503"/>
            <a:ext cx="8229600" cy="306718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1463" indent="-271463">
              <a:buFont typeface="Arial" panose="020B0604020202020204" pitchFamily="34" charset="0"/>
              <a:buNone/>
            </a:pPr>
            <a:r>
              <a:rPr lang="en-IN" sz="2400" dirty="0">
                <a:latin typeface="Monseratt semibold"/>
              </a:rPr>
              <a:t>• </a:t>
            </a:r>
            <a:r>
              <a:rPr lang="en-IN" sz="2400" b="1" dirty="0">
                <a:latin typeface="Monseratt semibold"/>
              </a:rPr>
              <a:t>Data Source: </a:t>
            </a:r>
            <a:r>
              <a:rPr lang="en-IN" sz="2400" dirty="0">
                <a:latin typeface="Monseratt semibold"/>
              </a:rPr>
              <a:t>WA_Fn-UseC_-Telco-Customer-Churn.csv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2400" dirty="0">
                <a:latin typeface="Monseratt semibold"/>
              </a:rPr>
              <a:t>• </a:t>
            </a:r>
            <a:r>
              <a:rPr lang="en-IN" sz="2400" b="1" dirty="0">
                <a:latin typeface="Monseratt semibold"/>
              </a:rPr>
              <a:t>Total Records: </a:t>
            </a:r>
            <a:r>
              <a:rPr lang="en-IN" sz="2400" dirty="0">
                <a:latin typeface="Monseratt semibold"/>
              </a:rPr>
              <a:t>7043 customers</a:t>
            </a:r>
          </a:p>
          <a:p>
            <a:pPr marL="271463" indent="-271463">
              <a:buFont typeface="Arial" panose="020B0604020202020204" pitchFamily="34" charset="0"/>
              <a:buNone/>
            </a:pPr>
            <a:r>
              <a:rPr lang="en-IN" sz="2400" dirty="0">
                <a:latin typeface="Monseratt semibold"/>
              </a:rPr>
              <a:t>• </a:t>
            </a:r>
            <a:r>
              <a:rPr lang="en-IN" sz="2400" b="1" dirty="0">
                <a:latin typeface="Monseratt semibold"/>
              </a:rPr>
              <a:t>Features: </a:t>
            </a:r>
            <a:r>
              <a:rPr lang="en-IN" sz="2400" dirty="0">
                <a:latin typeface="Monseratt semibold"/>
              </a:rPr>
              <a:t>21 (e.g., Gender, Tenure, Contract Type, Payment Method)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2400" dirty="0">
                <a:latin typeface="Monseratt semibold"/>
              </a:rPr>
              <a:t>• </a:t>
            </a:r>
            <a:r>
              <a:rPr lang="en-IN" sz="2400" b="1" dirty="0">
                <a:latin typeface="Monseratt semibold"/>
              </a:rPr>
              <a:t>Target Variable: </a:t>
            </a:r>
            <a:r>
              <a:rPr lang="en-IN" sz="2400" dirty="0">
                <a:latin typeface="Monseratt semibold"/>
              </a:rPr>
              <a:t>Churn (Yes/No)</a:t>
            </a:r>
          </a:p>
          <a:p>
            <a:pPr marL="0" indent="0">
              <a:buNone/>
            </a:pPr>
            <a:r>
              <a:rPr lang="en-IN" sz="2400" dirty="0">
                <a:latin typeface="Monseratt semibold"/>
              </a:rPr>
              <a:t>• </a:t>
            </a:r>
            <a:r>
              <a:rPr lang="en-IN" sz="2400" b="1" dirty="0">
                <a:latin typeface="Monseratt semibold"/>
              </a:rPr>
              <a:t>Link: </a:t>
            </a:r>
            <a:r>
              <a:rPr lang="en-IN" sz="2400" dirty="0">
                <a:solidFill>
                  <a:schemeClr val="accent5"/>
                </a:solidFill>
                <a:latin typeface="Monseratt semibold"/>
                <a:hlinkClick r:id="rId3"/>
              </a:rPr>
              <a:t>Click Here</a:t>
            </a:r>
            <a:endParaRPr lang="en-IN" sz="2400" dirty="0">
              <a:solidFill>
                <a:schemeClr val="accent5"/>
              </a:solidFill>
              <a:latin typeface="Monseratt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463459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3D7EF9-DD46-19F8-10DC-831871BA9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6026E1D-2671-C1ED-B400-5EE962011F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23"/>
          <a:stretch/>
        </p:blipFill>
        <p:spPr>
          <a:xfrm>
            <a:off x="8958648" y="0"/>
            <a:ext cx="3233351" cy="81253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394666D-2932-291C-D255-BDD58C0C17CF}"/>
              </a:ext>
            </a:extLst>
          </p:cNvPr>
          <p:cNvSpPr txBox="1"/>
          <p:nvPr/>
        </p:nvSpPr>
        <p:spPr>
          <a:xfrm>
            <a:off x="2837935" y="812531"/>
            <a:ext cx="651613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4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IN" sz="4400" b="1" u="sng" dirty="0">
                <a:solidFill>
                  <a:srgbClr val="222222"/>
                </a:solidFill>
                <a:latin typeface="Monseratt semibold"/>
              </a:rPr>
              <a:t>I</a:t>
            </a:r>
            <a:r>
              <a:rPr lang="en-IN" sz="4400" b="1" i="0" u="sng" dirty="0">
                <a:solidFill>
                  <a:srgbClr val="222222"/>
                </a:solidFill>
                <a:effectLst/>
                <a:latin typeface="Monseratt semibold"/>
              </a:rPr>
              <a:t>mplementation of Project</a:t>
            </a:r>
            <a:endParaRPr kumimoji="0" lang="en-US" sz="44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seratt semi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39BC15-7654-42A9-0997-FEB392F18E09}"/>
              </a:ext>
            </a:extLst>
          </p:cNvPr>
          <p:cNvSpPr txBox="1"/>
          <p:nvPr/>
        </p:nvSpPr>
        <p:spPr>
          <a:xfrm>
            <a:off x="292442" y="1581972"/>
            <a:ext cx="40818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3600" b="1" i="0" dirty="0">
                <a:solidFill>
                  <a:srgbClr val="222222"/>
                </a:solidFill>
                <a:effectLst/>
                <a:latin typeface="Monseratt semibold"/>
              </a:rPr>
              <a:t>1. Dataset Overview</a:t>
            </a:r>
            <a:endParaRPr kumimoji="0" lang="en-US" sz="44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seratt semibold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E51952F-2C24-6D5D-40E6-2B182C5C50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7291" y="2394503"/>
            <a:ext cx="8777418" cy="3675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2136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CDC22-259B-2BBE-0A5E-C8924C96B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89F39F5-62A2-2F71-34B6-22A813FDF4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23"/>
          <a:stretch/>
        </p:blipFill>
        <p:spPr>
          <a:xfrm>
            <a:off x="8958648" y="0"/>
            <a:ext cx="3233351" cy="81253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D36113A-080A-C827-9F60-E04B0D08C836}"/>
              </a:ext>
            </a:extLst>
          </p:cNvPr>
          <p:cNvSpPr txBox="1"/>
          <p:nvPr/>
        </p:nvSpPr>
        <p:spPr>
          <a:xfrm>
            <a:off x="2837935" y="812531"/>
            <a:ext cx="651613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4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IN" sz="4400" b="1" u="sng" dirty="0">
                <a:solidFill>
                  <a:srgbClr val="222222"/>
                </a:solidFill>
                <a:latin typeface="Monseratt semibold"/>
              </a:rPr>
              <a:t>I</a:t>
            </a:r>
            <a:r>
              <a:rPr lang="en-IN" sz="4400" b="1" i="0" u="sng" dirty="0">
                <a:solidFill>
                  <a:srgbClr val="222222"/>
                </a:solidFill>
                <a:effectLst/>
                <a:latin typeface="Monseratt semibold"/>
              </a:rPr>
              <a:t>mplementation of Project</a:t>
            </a:r>
            <a:endParaRPr kumimoji="0" lang="en-US" sz="44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seratt semi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251D36-D28C-61D1-F097-67DE55C13A16}"/>
              </a:ext>
            </a:extLst>
          </p:cNvPr>
          <p:cNvSpPr txBox="1"/>
          <p:nvPr/>
        </p:nvSpPr>
        <p:spPr>
          <a:xfrm>
            <a:off x="292442" y="1581972"/>
            <a:ext cx="40818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3600" b="1" i="0" dirty="0">
                <a:solidFill>
                  <a:srgbClr val="222222"/>
                </a:solidFill>
                <a:effectLst/>
                <a:latin typeface="Monseratt semibold"/>
              </a:rPr>
              <a:t>1. Dataset Overview</a:t>
            </a:r>
            <a:endParaRPr kumimoji="0" lang="en-US" sz="44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seratt semibold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2D9C72-9332-EA31-C26A-D870A38EA25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958"/>
          <a:stretch/>
        </p:blipFill>
        <p:spPr>
          <a:xfrm>
            <a:off x="3278206" y="2228303"/>
            <a:ext cx="5581589" cy="4565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0564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71F28-78B6-05F8-F1BC-7D63EBCAC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CB55F7C-19F8-1D4A-7027-EC71207650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23"/>
          <a:stretch/>
        </p:blipFill>
        <p:spPr>
          <a:xfrm>
            <a:off x="8958648" y="0"/>
            <a:ext cx="3233351" cy="81253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149738-EA2F-C7BB-8F9F-C090A27C39B0}"/>
              </a:ext>
            </a:extLst>
          </p:cNvPr>
          <p:cNvSpPr txBox="1"/>
          <p:nvPr/>
        </p:nvSpPr>
        <p:spPr>
          <a:xfrm>
            <a:off x="2837935" y="812531"/>
            <a:ext cx="651613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4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IN" sz="4400" b="1" u="sng" dirty="0">
                <a:solidFill>
                  <a:srgbClr val="222222"/>
                </a:solidFill>
                <a:latin typeface="Monseratt semibold"/>
              </a:rPr>
              <a:t>I</a:t>
            </a:r>
            <a:r>
              <a:rPr lang="en-IN" sz="4400" b="1" i="0" u="sng" dirty="0">
                <a:solidFill>
                  <a:srgbClr val="222222"/>
                </a:solidFill>
                <a:effectLst/>
                <a:latin typeface="Monseratt semibold"/>
              </a:rPr>
              <a:t>mplementation of Project</a:t>
            </a:r>
            <a:endParaRPr kumimoji="0" lang="en-US" sz="44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seratt semi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5E1B18-A456-A95C-B6C6-0DAD0517F10D}"/>
              </a:ext>
            </a:extLst>
          </p:cNvPr>
          <p:cNvSpPr txBox="1"/>
          <p:nvPr/>
        </p:nvSpPr>
        <p:spPr>
          <a:xfrm>
            <a:off x="292442" y="1581972"/>
            <a:ext cx="43166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3600" b="1" dirty="0">
                <a:solidFill>
                  <a:srgbClr val="222222"/>
                </a:solidFill>
                <a:latin typeface="Monseratt semibold"/>
              </a:rPr>
              <a:t>2</a:t>
            </a:r>
            <a:r>
              <a:rPr lang="en-IN" sz="3600" b="1" i="0" dirty="0">
                <a:solidFill>
                  <a:srgbClr val="222222"/>
                </a:solidFill>
                <a:effectLst/>
                <a:latin typeface="Monseratt semibold"/>
              </a:rPr>
              <a:t>. Data Preprocessing</a:t>
            </a:r>
            <a:endParaRPr kumimoji="0" lang="en-US" sz="44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seratt semibold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88671AA-B4DA-05E2-DC85-15D6A9361FE1}"/>
              </a:ext>
            </a:extLst>
          </p:cNvPr>
          <p:cNvSpPr txBox="1">
            <a:spLocks/>
          </p:cNvSpPr>
          <p:nvPr/>
        </p:nvSpPr>
        <p:spPr>
          <a:xfrm>
            <a:off x="1322956" y="2221406"/>
            <a:ext cx="10576602" cy="4525963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rgbClr val="000000"/>
                </a:solidFill>
                <a:latin typeface="Montserrat Semibold"/>
              </a:rPr>
              <a:t>Handling Missing Values:</a:t>
            </a:r>
          </a:p>
          <a:p>
            <a:pPr marL="1074738" indent="-449263" defTabSz="812800">
              <a:buFont typeface="Arial" panose="020B0604020202020204" pitchFamily="34" charset="0"/>
              <a:buNone/>
            </a:pPr>
            <a:r>
              <a:rPr lang="en-US" sz="2000" dirty="0">
                <a:solidFill>
                  <a:srgbClr val="000000"/>
                </a:solidFill>
                <a:latin typeface="Montserrat Semibold"/>
              </a:rPr>
              <a:t>-missing values in '</a:t>
            </a:r>
            <a:r>
              <a:rPr lang="en-US" sz="2000" dirty="0" err="1">
                <a:solidFill>
                  <a:srgbClr val="000000"/>
                </a:solidFill>
                <a:latin typeface="Montserrat Semibold"/>
              </a:rPr>
              <a:t>TotalCharges</a:t>
            </a:r>
            <a:r>
              <a:rPr lang="en-US" sz="2000" dirty="0">
                <a:solidFill>
                  <a:srgbClr val="000000"/>
                </a:solidFill>
                <a:latin typeface="Montserrat Semibold"/>
              </a:rPr>
              <a:t>' (0.15% of data) were dropped.</a:t>
            </a:r>
          </a:p>
          <a:p>
            <a:r>
              <a:rPr lang="en-US" sz="2000" dirty="0">
                <a:solidFill>
                  <a:srgbClr val="000000"/>
                </a:solidFill>
                <a:latin typeface="Montserrat Semibold"/>
              </a:rPr>
              <a:t>Data Type Conversion:</a:t>
            </a:r>
          </a:p>
          <a:p>
            <a:pPr marL="363538" indent="0">
              <a:buFont typeface="Arial" panose="020B0604020202020204" pitchFamily="34" charset="0"/>
              <a:buNone/>
            </a:pPr>
            <a:r>
              <a:rPr lang="en-US" sz="2000" dirty="0">
                <a:solidFill>
                  <a:srgbClr val="000000"/>
                </a:solidFill>
                <a:latin typeface="Montserrat Semibold"/>
              </a:rPr>
              <a:t>   - Converted '</a:t>
            </a:r>
            <a:r>
              <a:rPr lang="en-US" sz="2000" dirty="0" err="1">
                <a:solidFill>
                  <a:srgbClr val="000000"/>
                </a:solidFill>
                <a:latin typeface="Montserrat Semibold"/>
              </a:rPr>
              <a:t>TotalCharges</a:t>
            </a:r>
            <a:r>
              <a:rPr lang="en-US" sz="2000" dirty="0">
                <a:solidFill>
                  <a:srgbClr val="000000"/>
                </a:solidFill>
                <a:latin typeface="Montserrat Semibold"/>
              </a:rPr>
              <a:t>' from object to numeric.</a:t>
            </a:r>
          </a:p>
          <a:p>
            <a:r>
              <a:rPr lang="en-US" sz="2000" dirty="0">
                <a:solidFill>
                  <a:srgbClr val="000000"/>
                </a:solidFill>
                <a:latin typeface="Montserrat Semibold"/>
              </a:rPr>
              <a:t>Feature Engineering:</a:t>
            </a:r>
          </a:p>
          <a:p>
            <a:pPr marL="363538" indent="0">
              <a:buFont typeface="Arial" panose="020B0604020202020204" pitchFamily="34" charset="0"/>
              <a:buNone/>
            </a:pPr>
            <a:r>
              <a:rPr lang="en-US" sz="2000" dirty="0">
                <a:solidFill>
                  <a:srgbClr val="000000"/>
                </a:solidFill>
                <a:latin typeface="Montserrat Semibold"/>
              </a:rPr>
              <a:t>   - Created tenure groups (1-12, 13-24, etc.).</a:t>
            </a:r>
          </a:p>
          <a:p>
            <a:pPr marL="363538" indent="0">
              <a:buFont typeface="Arial" panose="020B0604020202020204" pitchFamily="34" charset="0"/>
              <a:buNone/>
            </a:pPr>
            <a:r>
              <a:rPr lang="en-US" sz="2000" dirty="0">
                <a:solidFill>
                  <a:srgbClr val="000000"/>
                </a:solidFill>
                <a:latin typeface="Montserrat Semibold"/>
              </a:rPr>
              <a:t>   - Dropped '</a:t>
            </a:r>
            <a:r>
              <a:rPr lang="en-US" sz="2000" dirty="0" err="1">
                <a:solidFill>
                  <a:srgbClr val="000000"/>
                </a:solidFill>
                <a:latin typeface="Montserrat Semibold"/>
              </a:rPr>
              <a:t>CustomerID</a:t>
            </a:r>
            <a:r>
              <a:rPr lang="en-US" sz="2000" dirty="0">
                <a:solidFill>
                  <a:srgbClr val="000000"/>
                </a:solidFill>
                <a:latin typeface="Montserrat Semibold"/>
              </a:rPr>
              <a:t>' and 'Tenure'.</a:t>
            </a:r>
          </a:p>
          <a:p>
            <a:r>
              <a:rPr lang="en-US" sz="2000" dirty="0">
                <a:solidFill>
                  <a:srgbClr val="000000"/>
                </a:solidFill>
                <a:latin typeface="Montserrat Semibold"/>
              </a:rPr>
              <a:t>Categorical Encoding:</a:t>
            </a:r>
          </a:p>
          <a:p>
            <a:pPr marL="363538" indent="0">
              <a:buFont typeface="Arial" panose="020B0604020202020204" pitchFamily="34" charset="0"/>
              <a:buNone/>
            </a:pPr>
            <a:r>
              <a:rPr lang="en-US" sz="2000" dirty="0">
                <a:solidFill>
                  <a:srgbClr val="000000"/>
                </a:solidFill>
                <a:latin typeface="Montserrat Semibold"/>
              </a:rPr>
              <a:t>   - Applied one-hot encoding for categorical features.</a:t>
            </a:r>
          </a:p>
          <a:p>
            <a:r>
              <a:rPr lang="en-US" sz="2000" dirty="0">
                <a:solidFill>
                  <a:srgbClr val="000000"/>
                </a:solidFill>
                <a:latin typeface="Montserrat Semibold"/>
              </a:rPr>
              <a:t>Target Variable Transformation:</a:t>
            </a:r>
          </a:p>
          <a:p>
            <a:pPr marL="363538" indent="0">
              <a:buFont typeface="Arial" panose="020B0604020202020204" pitchFamily="34" charset="0"/>
              <a:buNone/>
            </a:pPr>
            <a:r>
              <a:rPr lang="en-US" sz="2000" dirty="0">
                <a:solidFill>
                  <a:srgbClr val="000000"/>
                </a:solidFill>
                <a:latin typeface="Montserrat Semibold"/>
              </a:rPr>
              <a:t>   - Converted 'Churn' into binary format (Yes=1, No=0).</a:t>
            </a:r>
          </a:p>
        </p:txBody>
      </p:sp>
    </p:spTree>
    <p:extLst>
      <p:ext uri="{BB962C8B-B14F-4D97-AF65-F5344CB8AC3E}">
        <p14:creationId xmlns:p14="http://schemas.microsoft.com/office/powerpoint/2010/main" val="25233353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F120E-21F1-6A1D-4722-6A90CB977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241FA1F-B26D-8C9A-97C9-41338BDF81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23"/>
          <a:stretch/>
        </p:blipFill>
        <p:spPr>
          <a:xfrm>
            <a:off x="8958648" y="0"/>
            <a:ext cx="3233351" cy="81253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27A38B9-4AF0-9A5C-8C00-565D4FC2A34D}"/>
              </a:ext>
            </a:extLst>
          </p:cNvPr>
          <p:cNvSpPr txBox="1"/>
          <p:nvPr/>
        </p:nvSpPr>
        <p:spPr>
          <a:xfrm>
            <a:off x="2837935" y="812531"/>
            <a:ext cx="651613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4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IN" sz="4400" b="1" u="sng" dirty="0">
                <a:solidFill>
                  <a:srgbClr val="222222"/>
                </a:solidFill>
                <a:latin typeface="Monseratt semibold"/>
              </a:rPr>
              <a:t>I</a:t>
            </a:r>
            <a:r>
              <a:rPr lang="en-IN" sz="4400" b="1" i="0" u="sng" dirty="0">
                <a:solidFill>
                  <a:srgbClr val="222222"/>
                </a:solidFill>
                <a:effectLst/>
                <a:latin typeface="Monseratt semibold"/>
              </a:rPr>
              <a:t>mplementation of Project</a:t>
            </a:r>
            <a:endParaRPr kumimoji="0" lang="en-US" sz="44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seratt semi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7E4B15-0911-6D1A-9313-B55630448CCE}"/>
              </a:ext>
            </a:extLst>
          </p:cNvPr>
          <p:cNvSpPr txBox="1"/>
          <p:nvPr/>
        </p:nvSpPr>
        <p:spPr>
          <a:xfrm>
            <a:off x="292442" y="1581972"/>
            <a:ext cx="43166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3600" b="1" dirty="0">
                <a:solidFill>
                  <a:srgbClr val="222222"/>
                </a:solidFill>
                <a:latin typeface="Monseratt semibold"/>
              </a:rPr>
              <a:t>2</a:t>
            </a:r>
            <a:r>
              <a:rPr lang="en-IN" sz="3600" b="1" i="0" dirty="0">
                <a:solidFill>
                  <a:srgbClr val="222222"/>
                </a:solidFill>
                <a:effectLst/>
                <a:latin typeface="Monseratt semibold"/>
              </a:rPr>
              <a:t>. Data Preprocessing</a:t>
            </a:r>
            <a:endParaRPr kumimoji="0" lang="en-US" sz="44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seratt semibold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CB37EB-D62D-58DE-A36C-0886006A80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806" y="2224214"/>
            <a:ext cx="11532398" cy="4633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533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27BD2-6378-3217-3A8A-F1612CBC3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BA5F454-DEDC-0BC9-EE7F-E7E9747BAE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23"/>
          <a:stretch/>
        </p:blipFill>
        <p:spPr>
          <a:xfrm>
            <a:off x="8958648" y="0"/>
            <a:ext cx="3233351" cy="81253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2F8D8C3-98FA-FBE2-CDE6-D9DF67E89F78}"/>
              </a:ext>
            </a:extLst>
          </p:cNvPr>
          <p:cNvSpPr txBox="1"/>
          <p:nvPr/>
        </p:nvSpPr>
        <p:spPr>
          <a:xfrm>
            <a:off x="2837935" y="812531"/>
            <a:ext cx="651613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4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IN" sz="4400" b="1" u="sng" dirty="0">
                <a:solidFill>
                  <a:srgbClr val="222222"/>
                </a:solidFill>
                <a:latin typeface="Monseratt semibold"/>
              </a:rPr>
              <a:t>I</a:t>
            </a:r>
            <a:r>
              <a:rPr lang="en-IN" sz="4400" b="1" i="0" u="sng" dirty="0">
                <a:solidFill>
                  <a:srgbClr val="222222"/>
                </a:solidFill>
                <a:effectLst/>
                <a:latin typeface="Monseratt semibold"/>
              </a:rPr>
              <a:t>mplementation of Project</a:t>
            </a:r>
            <a:endParaRPr kumimoji="0" lang="en-US" sz="44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seratt semi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3D9654-CA3F-72DF-E579-7532EB43A727}"/>
              </a:ext>
            </a:extLst>
          </p:cNvPr>
          <p:cNvSpPr txBox="1"/>
          <p:nvPr/>
        </p:nvSpPr>
        <p:spPr>
          <a:xfrm>
            <a:off x="292442" y="1581972"/>
            <a:ext cx="43166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3600" b="1" dirty="0">
                <a:solidFill>
                  <a:srgbClr val="222222"/>
                </a:solidFill>
                <a:latin typeface="Monseratt semibold"/>
              </a:rPr>
              <a:t>2</a:t>
            </a:r>
            <a:r>
              <a:rPr lang="en-IN" sz="3600" b="1" i="0" dirty="0">
                <a:solidFill>
                  <a:srgbClr val="222222"/>
                </a:solidFill>
                <a:effectLst/>
                <a:latin typeface="Monseratt semibold"/>
              </a:rPr>
              <a:t>. Data Preprocessing</a:t>
            </a:r>
            <a:endParaRPr kumimoji="0" lang="en-US" sz="44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seratt semibold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EC437D-44F2-1359-B0B6-675ADA70F4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8651" y="2351413"/>
            <a:ext cx="8754697" cy="3820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44988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3342A-5FF1-EEBF-F177-9FB5CFCBD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D5915A6-8574-0F3D-D99D-1221738603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23"/>
          <a:stretch/>
        </p:blipFill>
        <p:spPr>
          <a:xfrm>
            <a:off x="8958648" y="0"/>
            <a:ext cx="3233351" cy="81253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7686829-9C90-5FD6-5515-3D91A2978F98}"/>
              </a:ext>
            </a:extLst>
          </p:cNvPr>
          <p:cNvSpPr txBox="1"/>
          <p:nvPr/>
        </p:nvSpPr>
        <p:spPr>
          <a:xfrm>
            <a:off x="2837935" y="812531"/>
            <a:ext cx="651613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4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IN" sz="4400" b="1" u="sng" dirty="0">
                <a:solidFill>
                  <a:srgbClr val="222222"/>
                </a:solidFill>
                <a:latin typeface="Monseratt semibold"/>
              </a:rPr>
              <a:t>I</a:t>
            </a:r>
            <a:r>
              <a:rPr lang="en-IN" sz="4400" b="1" i="0" u="sng" dirty="0">
                <a:solidFill>
                  <a:srgbClr val="222222"/>
                </a:solidFill>
                <a:effectLst/>
                <a:latin typeface="Monseratt semibold"/>
              </a:rPr>
              <a:t>mplementation of Project</a:t>
            </a:r>
            <a:endParaRPr kumimoji="0" lang="en-US" sz="44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seratt semi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A81F4D-CF66-A2AE-E8D2-A00E48F9AFFB}"/>
              </a:ext>
            </a:extLst>
          </p:cNvPr>
          <p:cNvSpPr txBox="1"/>
          <p:nvPr/>
        </p:nvSpPr>
        <p:spPr>
          <a:xfrm>
            <a:off x="292442" y="1581972"/>
            <a:ext cx="43166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3600" b="1" dirty="0">
                <a:solidFill>
                  <a:srgbClr val="222222"/>
                </a:solidFill>
                <a:latin typeface="Monseratt semibold"/>
              </a:rPr>
              <a:t>2</a:t>
            </a:r>
            <a:r>
              <a:rPr lang="en-IN" sz="3600" b="1" i="0" dirty="0">
                <a:solidFill>
                  <a:srgbClr val="222222"/>
                </a:solidFill>
                <a:effectLst/>
                <a:latin typeface="Monseratt semibold"/>
              </a:rPr>
              <a:t>. Data Preprocessing</a:t>
            </a:r>
            <a:endParaRPr kumimoji="0" lang="en-US" sz="44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seratt semibold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6D53FEE-C425-30EE-B730-877B1A8DCD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702" y="2228303"/>
            <a:ext cx="11250595" cy="4401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6917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668F2-7ED5-B928-9A83-CD758FA79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D928347-32CE-7B8A-B52C-387A9FF1CF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23"/>
          <a:stretch/>
        </p:blipFill>
        <p:spPr>
          <a:xfrm>
            <a:off x="8958648" y="0"/>
            <a:ext cx="3233351" cy="81253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2C427AC-EDFC-D698-87EF-1CCC9560A60B}"/>
              </a:ext>
            </a:extLst>
          </p:cNvPr>
          <p:cNvSpPr txBox="1"/>
          <p:nvPr/>
        </p:nvSpPr>
        <p:spPr>
          <a:xfrm>
            <a:off x="2837935" y="812531"/>
            <a:ext cx="651613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4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IN" sz="4400" b="1" u="sng" dirty="0">
                <a:solidFill>
                  <a:srgbClr val="222222"/>
                </a:solidFill>
                <a:latin typeface="Monseratt semibold"/>
              </a:rPr>
              <a:t>I</a:t>
            </a:r>
            <a:r>
              <a:rPr lang="en-IN" sz="4400" b="1" i="0" u="sng" dirty="0">
                <a:solidFill>
                  <a:srgbClr val="222222"/>
                </a:solidFill>
                <a:effectLst/>
                <a:latin typeface="Monseratt semibold"/>
              </a:rPr>
              <a:t>mplementation of Project</a:t>
            </a:r>
            <a:endParaRPr kumimoji="0" lang="en-US" sz="44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seratt semi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9EEE47-15BF-5919-4303-613EDDA22E11}"/>
              </a:ext>
            </a:extLst>
          </p:cNvPr>
          <p:cNvSpPr txBox="1"/>
          <p:nvPr/>
        </p:nvSpPr>
        <p:spPr>
          <a:xfrm>
            <a:off x="94734" y="1581972"/>
            <a:ext cx="59106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3600" b="1" i="0" dirty="0">
                <a:solidFill>
                  <a:srgbClr val="222222"/>
                </a:solidFill>
                <a:effectLst/>
                <a:latin typeface="Monseratt semibold"/>
              </a:rPr>
              <a:t>3. Exploratory Data Analysis</a:t>
            </a:r>
            <a:endParaRPr kumimoji="0" lang="en-US" sz="44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seratt semibold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0708F6-BF38-FF78-4FAB-3A894DE79CF0}"/>
              </a:ext>
            </a:extLst>
          </p:cNvPr>
          <p:cNvSpPr txBox="1"/>
          <p:nvPr/>
        </p:nvSpPr>
        <p:spPr>
          <a:xfrm>
            <a:off x="798286" y="2228303"/>
            <a:ext cx="10595428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Montserrat Semibold"/>
              </a:rPr>
              <a:t>1. Churn Distribution: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Montserrat Semibold"/>
              </a:rPr>
              <a:t>   - Imbalanced: 73% No Churn, 27% Churn.</a:t>
            </a:r>
          </a:p>
          <a:p>
            <a:pPr marL="0" indent="0">
              <a:buNone/>
            </a:pPr>
            <a:endParaRPr lang="en-US" sz="1800" dirty="0">
              <a:solidFill>
                <a:srgbClr val="000000"/>
              </a:solidFill>
              <a:latin typeface="Montserrat Semibold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Montserrat Semibold"/>
              </a:rPr>
              <a:t>2. Churn Trends:</a:t>
            </a:r>
          </a:p>
          <a:p>
            <a:pPr marL="358775" indent="-358775">
              <a:buNone/>
            </a:pPr>
            <a:r>
              <a:rPr lang="en-US" sz="1800" dirty="0">
                <a:solidFill>
                  <a:srgbClr val="000000"/>
                </a:solidFill>
                <a:latin typeface="Montserrat Semibold"/>
              </a:rPr>
              <a:t>   - Higher churn in month-to-month contracts &amp; electronic check payments.</a:t>
            </a:r>
          </a:p>
          <a:p>
            <a:endParaRPr lang="en-US" sz="1800" dirty="0">
              <a:solidFill>
                <a:srgbClr val="000000"/>
              </a:solidFill>
              <a:latin typeface="Montserrat Semibold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Montserrat Semibold"/>
              </a:rPr>
              <a:t>3. Tenure vs. Churn: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Montserrat Semibold"/>
              </a:rPr>
              <a:t>   - Customers with tenure &lt;12 months churn the most.</a:t>
            </a:r>
          </a:p>
          <a:p>
            <a:endParaRPr lang="en-US" sz="1800" dirty="0">
              <a:solidFill>
                <a:srgbClr val="000000"/>
              </a:solidFill>
              <a:latin typeface="Montserrat Semibold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Montserrat Semibold"/>
              </a:rPr>
              <a:t>4. Monthly &amp; Total Charges Impact: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Montserrat Semibold"/>
              </a:rPr>
              <a:t>   - Higher Monthly Charges → Higher Churn.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Montserrat Semibold"/>
              </a:rPr>
              <a:t>   - Lower Total Charges → Higher Churn.</a:t>
            </a:r>
          </a:p>
          <a:p>
            <a:endParaRPr lang="en-US" sz="1800" dirty="0">
              <a:solidFill>
                <a:srgbClr val="000000"/>
              </a:solidFill>
              <a:latin typeface="Montserrat Semibold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Montserrat Semibold"/>
              </a:rPr>
              <a:t>5. Feature Correlation: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Montserrat Semibold"/>
              </a:rPr>
              <a:t>   - Churn is strongly linked to contract type &amp; support services.</a:t>
            </a:r>
          </a:p>
        </p:txBody>
      </p:sp>
    </p:spTree>
    <p:extLst>
      <p:ext uri="{BB962C8B-B14F-4D97-AF65-F5344CB8AC3E}">
        <p14:creationId xmlns:p14="http://schemas.microsoft.com/office/powerpoint/2010/main" val="38011430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427A5-A625-D26C-77C4-252E9060A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24CE308-81EC-7006-0CDA-D05C0C93F4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23"/>
          <a:stretch/>
        </p:blipFill>
        <p:spPr>
          <a:xfrm>
            <a:off x="8958648" y="0"/>
            <a:ext cx="3233351" cy="81253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5E1F0CC-93C5-DCB6-B40A-A41C97A30B23}"/>
              </a:ext>
            </a:extLst>
          </p:cNvPr>
          <p:cNvSpPr txBox="1"/>
          <p:nvPr/>
        </p:nvSpPr>
        <p:spPr>
          <a:xfrm>
            <a:off x="2837935" y="812531"/>
            <a:ext cx="651613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4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IN" sz="4400" b="1" u="sng" dirty="0">
                <a:solidFill>
                  <a:srgbClr val="222222"/>
                </a:solidFill>
                <a:latin typeface="Monseratt semibold"/>
              </a:rPr>
              <a:t>I</a:t>
            </a:r>
            <a:r>
              <a:rPr lang="en-IN" sz="4400" b="1" i="0" u="sng" dirty="0">
                <a:solidFill>
                  <a:srgbClr val="222222"/>
                </a:solidFill>
                <a:effectLst/>
                <a:latin typeface="Monseratt semibold"/>
              </a:rPr>
              <a:t>mplementation of Project</a:t>
            </a:r>
            <a:endParaRPr kumimoji="0" lang="en-US" sz="44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seratt semi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E7651B-E620-1253-2C40-508BF7E4C7C1}"/>
              </a:ext>
            </a:extLst>
          </p:cNvPr>
          <p:cNvSpPr txBox="1"/>
          <p:nvPr/>
        </p:nvSpPr>
        <p:spPr>
          <a:xfrm>
            <a:off x="94734" y="1581972"/>
            <a:ext cx="59106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3600" b="1" i="0" dirty="0">
                <a:solidFill>
                  <a:srgbClr val="222222"/>
                </a:solidFill>
                <a:effectLst/>
                <a:latin typeface="Monseratt semibold"/>
              </a:rPr>
              <a:t>3. Exploratory Data Analysis</a:t>
            </a:r>
            <a:endParaRPr kumimoji="0" lang="en-US" sz="44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seratt semibold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CEF4AD-1B67-7DB2-1A89-3D3CFC1DE2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394503"/>
            <a:ext cx="4990086" cy="446349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A538F27-A6C6-E237-E80B-604562EB2FB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650" b="1920"/>
          <a:stretch/>
        </p:blipFill>
        <p:spPr>
          <a:xfrm>
            <a:off x="774589" y="2394503"/>
            <a:ext cx="4550940" cy="4314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4981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55CF7-F936-DED9-9C74-4526A330D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347F452-E681-B393-9901-4E330B67AD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23"/>
          <a:stretch/>
        </p:blipFill>
        <p:spPr>
          <a:xfrm>
            <a:off x="8958648" y="0"/>
            <a:ext cx="3233351" cy="81253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025B4B5-9F9A-83DE-7BE9-561845F535CB}"/>
              </a:ext>
            </a:extLst>
          </p:cNvPr>
          <p:cNvSpPr txBox="1"/>
          <p:nvPr/>
        </p:nvSpPr>
        <p:spPr>
          <a:xfrm>
            <a:off x="2837935" y="812531"/>
            <a:ext cx="651613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4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IN" sz="4400" b="1" u="sng" dirty="0">
                <a:solidFill>
                  <a:srgbClr val="222222"/>
                </a:solidFill>
                <a:latin typeface="Monseratt semibold"/>
              </a:rPr>
              <a:t>I</a:t>
            </a:r>
            <a:r>
              <a:rPr lang="en-IN" sz="4400" b="1" i="0" u="sng" dirty="0">
                <a:solidFill>
                  <a:srgbClr val="222222"/>
                </a:solidFill>
                <a:effectLst/>
                <a:latin typeface="Monseratt semibold"/>
              </a:rPr>
              <a:t>mplementation of Project</a:t>
            </a:r>
            <a:endParaRPr kumimoji="0" lang="en-US" sz="44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seratt semi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3D5A2D-0E57-3FB1-C047-6704D50C529A}"/>
              </a:ext>
            </a:extLst>
          </p:cNvPr>
          <p:cNvSpPr txBox="1"/>
          <p:nvPr/>
        </p:nvSpPr>
        <p:spPr>
          <a:xfrm>
            <a:off x="94734" y="1581972"/>
            <a:ext cx="59106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3600" b="1" i="0" dirty="0">
                <a:solidFill>
                  <a:srgbClr val="222222"/>
                </a:solidFill>
                <a:effectLst/>
                <a:latin typeface="Monseratt semibold"/>
              </a:rPr>
              <a:t>3. Exploratory Data Analysis</a:t>
            </a:r>
            <a:endParaRPr kumimoji="0" lang="en-US" sz="44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seratt semibold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0B8ADA-5A9E-2540-28DF-4CFAA9909FE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" r="996"/>
          <a:stretch/>
        </p:blipFill>
        <p:spPr>
          <a:xfrm>
            <a:off x="211213" y="2228303"/>
            <a:ext cx="5621176" cy="430590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66DD619-0704-2449-958A-29DC389FF6C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601" b="1604"/>
          <a:stretch/>
        </p:blipFill>
        <p:spPr>
          <a:xfrm>
            <a:off x="6005384" y="2569017"/>
            <a:ext cx="5665054" cy="4121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4747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CBB92-69AC-5582-DE83-B8B53DDD7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AEAF3DF-03F5-4FFA-9EDC-1E81C497A4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23"/>
          <a:stretch/>
        </p:blipFill>
        <p:spPr>
          <a:xfrm>
            <a:off x="8958648" y="0"/>
            <a:ext cx="3233351" cy="81253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E3599A8-37FF-5838-B408-BB45B7EB3213}"/>
              </a:ext>
            </a:extLst>
          </p:cNvPr>
          <p:cNvSpPr txBox="1"/>
          <p:nvPr/>
        </p:nvSpPr>
        <p:spPr>
          <a:xfrm>
            <a:off x="2837935" y="812531"/>
            <a:ext cx="651613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4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IN" sz="4400" b="1" u="sng" dirty="0">
                <a:solidFill>
                  <a:srgbClr val="222222"/>
                </a:solidFill>
                <a:latin typeface="Monseratt semibold"/>
              </a:rPr>
              <a:t>I</a:t>
            </a:r>
            <a:r>
              <a:rPr lang="en-IN" sz="4400" b="1" i="0" u="sng" dirty="0">
                <a:solidFill>
                  <a:srgbClr val="222222"/>
                </a:solidFill>
                <a:effectLst/>
                <a:latin typeface="Monseratt semibold"/>
              </a:rPr>
              <a:t>mplementation of Project</a:t>
            </a:r>
            <a:endParaRPr kumimoji="0" lang="en-US" sz="44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seratt semi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7F801E-AE21-588A-CC32-54FEAA4F69A9}"/>
              </a:ext>
            </a:extLst>
          </p:cNvPr>
          <p:cNvSpPr txBox="1"/>
          <p:nvPr/>
        </p:nvSpPr>
        <p:spPr>
          <a:xfrm>
            <a:off x="94734" y="1581972"/>
            <a:ext cx="59106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3600" b="1" i="0" dirty="0">
                <a:solidFill>
                  <a:srgbClr val="222222"/>
                </a:solidFill>
                <a:effectLst/>
                <a:latin typeface="Monseratt semibold"/>
              </a:rPr>
              <a:t>3. Exploratory Data Analysis</a:t>
            </a:r>
            <a:endParaRPr kumimoji="0" lang="en-US" sz="44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seratt semibold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4CA700A-F239-98C8-0B91-244C0FDB06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77"/>
          <a:stretch/>
        </p:blipFill>
        <p:spPr>
          <a:xfrm>
            <a:off x="0" y="2271662"/>
            <a:ext cx="6187516" cy="394504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D088A00-C9EE-8AFB-5E61-52950CB9D00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176"/>
          <a:stretch/>
        </p:blipFill>
        <p:spPr>
          <a:xfrm>
            <a:off x="6300802" y="2394504"/>
            <a:ext cx="5611008" cy="3558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9593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51C8B-90ED-3046-73AE-64DAF0A1B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5EA7A11-3EEE-6808-35C8-130479555E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23"/>
          <a:stretch/>
        </p:blipFill>
        <p:spPr>
          <a:xfrm>
            <a:off x="8958648" y="0"/>
            <a:ext cx="3233351" cy="81253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2D66152-8152-A0B4-9DC6-E5305D0595DD}"/>
              </a:ext>
            </a:extLst>
          </p:cNvPr>
          <p:cNvSpPr txBox="1"/>
          <p:nvPr/>
        </p:nvSpPr>
        <p:spPr>
          <a:xfrm>
            <a:off x="2837935" y="812531"/>
            <a:ext cx="651613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4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IN" sz="4400" b="1" u="sng" dirty="0">
                <a:solidFill>
                  <a:srgbClr val="222222"/>
                </a:solidFill>
                <a:latin typeface="Monseratt semibold"/>
              </a:rPr>
              <a:t>I</a:t>
            </a:r>
            <a:r>
              <a:rPr lang="en-IN" sz="4400" b="1" i="0" u="sng" dirty="0">
                <a:solidFill>
                  <a:srgbClr val="222222"/>
                </a:solidFill>
                <a:effectLst/>
                <a:latin typeface="Monseratt semibold"/>
              </a:rPr>
              <a:t>mplementation of Project</a:t>
            </a:r>
            <a:endParaRPr kumimoji="0" lang="en-US" sz="44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seratt semi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FEE8DF-B492-1014-9B10-1CCA0E7ADE6D}"/>
              </a:ext>
            </a:extLst>
          </p:cNvPr>
          <p:cNvSpPr txBox="1"/>
          <p:nvPr/>
        </p:nvSpPr>
        <p:spPr>
          <a:xfrm>
            <a:off x="94734" y="1581972"/>
            <a:ext cx="59106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3600" b="1" i="0" dirty="0">
                <a:solidFill>
                  <a:srgbClr val="222222"/>
                </a:solidFill>
                <a:effectLst/>
                <a:latin typeface="Monseratt semibold"/>
              </a:rPr>
              <a:t>3. Exploratory Data Analysis</a:t>
            </a:r>
            <a:endParaRPr kumimoji="0" lang="en-US" sz="44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seratt semibold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E5ED21-AB31-53AC-926A-520E9446094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44"/>
          <a:stretch/>
        </p:blipFill>
        <p:spPr>
          <a:xfrm>
            <a:off x="2362200" y="2228303"/>
            <a:ext cx="7467600" cy="4588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8482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00560-7F6D-D509-8D6B-DC97AE341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57080AF-D69B-F497-1AFD-2837CD91B1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23"/>
          <a:stretch/>
        </p:blipFill>
        <p:spPr>
          <a:xfrm>
            <a:off x="8958648" y="0"/>
            <a:ext cx="3233351" cy="81253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B86D2FB-5769-5ECE-5285-677DDB8A33FA}"/>
              </a:ext>
            </a:extLst>
          </p:cNvPr>
          <p:cNvSpPr txBox="1"/>
          <p:nvPr/>
        </p:nvSpPr>
        <p:spPr>
          <a:xfrm>
            <a:off x="-1171799" y="2228671"/>
            <a:ext cx="1453559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IN" sz="6000" b="1" u="sng" kern="100" dirty="0">
                <a:solidFill>
                  <a:srgbClr val="222222"/>
                </a:solidFill>
                <a:latin typeface="Monseratt semibold"/>
                <a:cs typeface="Times New Roman" panose="02020603050405020304" pitchFamily="18" charset="0"/>
              </a:rPr>
              <a:t>Model Development and Evaluation</a:t>
            </a:r>
            <a:endParaRPr kumimoji="0" lang="en-US" sz="36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seratt semi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432DD1-0176-E375-D8FC-5137A60D90F2}"/>
              </a:ext>
            </a:extLst>
          </p:cNvPr>
          <p:cNvSpPr txBox="1"/>
          <p:nvPr/>
        </p:nvSpPr>
        <p:spPr>
          <a:xfrm>
            <a:off x="3443021" y="3697261"/>
            <a:ext cx="53059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seratt semibold"/>
              </a:rPr>
              <a:t>By:- Ashish Thomas John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287D646-C378-F955-CEA0-1B7FDCB2FC46}"/>
              </a:ext>
            </a:extLst>
          </p:cNvPr>
          <p:cNvSpPr txBox="1">
            <a:spLocks/>
          </p:cNvSpPr>
          <p:nvPr/>
        </p:nvSpPr>
        <p:spPr>
          <a:xfrm>
            <a:off x="729048" y="2394503"/>
            <a:ext cx="8229600" cy="306718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1463" indent="-271463">
              <a:buFont typeface="Arial" panose="020B0604020202020204" pitchFamily="34" charset="0"/>
              <a:buNone/>
            </a:pPr>
            <a:endParaRPr lang="en-IN" sz="2400" dirty="0">
              <a:solidFill>
                <a:schemeClr val="accent5"/>
              </a:solidFill>
              <a:latin typeface="Monseratt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34788233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A70B7-8826-9521-41A6-595D08C90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E097A52-207E-9183-5B4A-299DF02418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23"/>
          <a:stretch/>
        </p:blipFill>
        <p:spPr>
          <a:xfrm>
            <a:off x="8958648" y="0"/>
            <a:ext cx="3233351" cy="81253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CA22D7A-E483-869C-DF41-3D7A5BEE52A9}"/>
              </a:ext>
            </a:extLst>
          </p:cNvPr>
          <p:cNvSpPr txBox="1"/>
          <p:nvPr/>
        </p:nvSpPr>
        <p:spPr>
          <a:xfrm>
            <a:off x="1409484" y="805189"/>
            <a:ext cx="91918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4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IN" sz="4400" b="1" i="0" u="sng" kern="100" dirty="0">
                <a:solidFill>
                  <a:srgbClr val="222222"/>
                </a:solidFill>
                <a:effectLst/>
                <a:latin typeface="Monseratt semibold"/>
                <a:cs typeface="Times New Roman" panose="02020603050405020304" pitchFamily="18" charset="0"/>
              </a:rPr>
              <a:t>Model </a:t>
            </a:r>
            <a:r>
              <a:rPr lang="en-IN" sz="4400" b="1" u="sng" kern="100" dirty="0">
                <a:solidFill>
                  <a:srgbClr val="222222"/>
                </a:solidFill>
                <a:latin typeface="Monseratt semibold"/>
                <a:cs typeface="Times New Roman" panose="02020603050405020304" pitchFamily="18" charset="0"/>
              </a:rPr>
              <a:t>Development and Evaluation </a:t>
            </a:r>
            <a:endParaRPr kumimoji="0" lang="en-US" sz="44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seratt semi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7EE957-2608-D247-3ACB-5B3D98860AB1}"/>
              </a:ext>
            </a:extLst>
          </p:cNvPr>
          <p:cNvSpPr txBox="1"/>
          <p:nvPr/>
        </p:nvSpPr>
        <p:spPr>
          <a:xfrm>
            <a:off x="94733" y="1581972"/>
            <a:ext cx="71043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marR="0" lvl="0" indent="-35560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IN" sz="3600" b="1" i="0" dirty="0">
                <a:solidFill>
                  <a:srgbClr val="222222"/>
                </a:solidFill>
                <a:effectLst/>
                <a:latin typeface="Monseratt semibold"/>
              </a:rPr>
              <a:t>Model 1: Decision Tree Classifier</a:t>
            </a:r>
            <a:endParaRPr kumimoji="0" lang="en-US" sz="4400" b="1" i="0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seratt semibold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1CC58F-62C7-3012-D855-E670D79B212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279" b="3679"/>
          <a:stretch/>
        </p:blipFill>
        <p:spPr>
          <a:xfrm>
            <a:off x="1530140" y="2235645"/>
            <a:ext cx="9131719" cy="216550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96F3ECD-EE2E-DAAA-309C-C660C5F2591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" t="1" r="356" b="6068"/>
          <a:stretch/>
        </p:blipFill>
        <p:spPr>
          <a:xfrm>
            <a:off x="1530139" y="4629698"/>
            <a:ext cx="9131720" cy="1172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131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80FC59-62BB-004E-D6CF-6F8D719AC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5B9317D-EE35-46DD-7F32-88B47E7D11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23"/>
          <a:stretch/>
        </p:blipFill>
        <p:spPr>
          <a:xfrm>
            <a:off x="8958648" y="0"/>
            <a:ext cx="3233351" cy="81253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6197368-43D2-2B37-67F4-D8AEA71A9348}"/>
              </a:ext>
            </a:extLst>
          </p:cNvPr>
          <p:cNvSpPr txBox="1"/>
          <p:nvPr/>
        </p:nvSpPr>
        <p:spPr>
          <a:xfrm>
            <a:off x="94733" y="1581972"/>
            <a:ext cx="71043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marR="0" lvl="0" indent="-35560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IN" sz="3600" b="1" i="0" dirty="0">
                <a:solidFill>
                  <a:srgbClr val="222222"/>
                </a:solidFill>
                <a:effectLst/>
                <a:latin typeface="Monseratt semibold"/>
              </a:rPr>
              <a:t>Model 1: Decision Tree Classifier</a:t>
            </a:r>
            <a:endParaRPr kumimoji="0" lang="en-US" sz="4400" b="1" i="0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seratt semibold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938F67-854F-2C90-2ACA-86022913B2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281668"/>
            <a:ext cx="8534400" cy="132737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964622D-5936-92A8-526B-CD6362E6B07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02" t="2131" r="-98" b="6009"/>
          <a:stretch/>
        </p:blipFill>
        <p:spPr>
          <a:xfrm>
            <a:off x="1828800" y="3772247"/>
            <a:ext cx="8534400" cy="296238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E0AB180-F31E-5B55-C9D6-230507BCD622}"/>
              </a:ext>
            </a:extLst>
          </p:cNvPr>
          <p:cNvSpPr txBox="1"/>
          <p:nvPr/>
        </p:nvSpPr>
        <p:spPr>
          <a:xfrm>
            <a:off x="1409484" y="805189"/>
            <a:ext cx="91918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4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IN" sz="4400" b="1" i="0" u="sng" kern="100" dirty="0">
                <a:solidFill>
                  <a:srgbClr val="222222"/>
                </a:solidFill>
                <a:effectLst/>
                <a:latin typeface="Monseratt semibold"/>
                <a:cs typeface="Times New Roman" panose="02020603050405020304" pitchFamily="18" charset="0"/>
              </a:rPr>
              <a:t>Model </a:t>
            </a:r>
            <a:r>
              <a:rPr lang="en-IN" sz="4400" b="1" u="sng" kern="100" dirty="0">
                <a:solidFill>
                  <a:srgbClr val="222222"/>
                </a:solidFill>
                <a:latin typeface="Monseratt semibold"/>
                <a:cs typeface="Times New Roman" panose="02020603050405020304" pitchFamily="18" charset="0"/>
              </a:rPr>
              <a:t>Development and Evaluation </a:t>
            </a:r>
            <a:endParaRPr kumimoji="0" lang="en-US" sz="44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seratt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483731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E307D9-4470-8EE2-FEEE-E5B7A0E7E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B7F067C-D61C-A875-21A4-3F2CC86F7A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23"/>
          <a:stretch/>
        </p:blipFill>
        <p:spPr>
          <a:xfrm>
            <a:off x="8958648" y="0"/>
            <a:ext cx="3233351" cy="81253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AA2F8B5-E8C5-1D3A-6186-E3A3C8AC17F5}"/>
              </a:ext>
            </a:extLst>
          </p:cNvPr>
          <p:cNvSpPr txBox="1"/>
          <p:nvPr/>
        </p:nvSpPr>
        <p:spPr>
          <a:xfrm>
            <a:off x="94733" y="1581972"/>
            <a:ext cx="71043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marR="0" lvl="0" indent="-35560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IN" sz="3600" b="1" i="0" dirty="0">
                <a:solidFill>
                  <a:srgbClr val="222222"/>
                </a:solidFill>
                <a:effectLst/>
                <a:latin typeface="Monseratt semibold"/>
              </a:rPr>
              <a:t>Model 1: Decision Tree Classifier</a:t>
            </a:r>
            <a:endParaRPr kumimoji="0" lang="en-US" sz="4400" b="1" i="0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seratt semibold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9076A9-95A8-72AC-1AC2-047AA0AA3A1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36" t="1928" r="195" b="464"/>
          <a:stretch/>
        </p:blipFill>
        <p:spPr>
          <a:xfrm>
            <a:off x="799121" y="2379819"/>
            <a:ext cx="10593758" cy="328729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4967A58-E550-90AD-0616-B506177B1EB1}"/>
              </a:ext>
            </a:extLst>
          </p:cNvPr>
          <p:cNvSpPr txBox="1"/>
          <p:nvPr/>
        </p:nvSpPr>
        <p:spPr>
          <a:xfrm>
            <a:off x="1409484" y="805189"/>
            <a:ext cx="91918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4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IN" sz="4400" b="1" i="0" u="sng" kern="100" dirty="0">
                <a:solidFill>
                  <a:srgbClr val="222222"/>
                </a:solidFill>
                <a:effectLst/>
                <a:latin typeface="Monseratt semibold"/>
                <a:cs typeface="Times New Roman" panose="02020603050405020304" pitchFamily="18" charset="0"/>
              </a:rPr>
              <a:t>Model </a:t>
            </a:r>
            <a:r>
              <a:rPr lang="en-IN" sz="4400" b="1" u="sng" kern="100" dirty="0">
                <a:solidFill>
                  <a:srgbClr val="222222"/>
                </a:solidFill>
                <a:latin typeface="Monseratt semibold"/>
                <a:cs typeface="Times New Roman" panose="02020603050405020304" pitchFamily="18" charset="0"/>
              </a:rPr>
              <a:t>Development and Evaluation </a:t>
            </a:r>
            <a:endParaRPr kumimoji="0" lang="en-US" sz="44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seratt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23414043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A348D5-62AB-8E68-7A6E-9F0A17F2A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57EF648-D030-4DBB-F6CA-DC8DDD0EFE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23"/>
          <a:stretch/>
        </p:blipFill>
        <p:spPr>
          <a:xfrm>
            <a:off x="8958648" y="0"/>
            <a:ext cx="3233351" cy="81253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D984829-E451-DA1D-BA71-EC60FC5F3266}"/>
              </a:ext>
            </a:extLst>
          </p:cNvPr>
          <p:cNvSpPr txBox="1"/>
          <p:nvPr/>
        </p:nvSpPr>
        <p:spPr>
          <a:xfrm>
            <a:off x="94733" y="1581972"/>
            <a:ext cx="71043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marR="0" lvl="0" indent="-35560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IN" sz="3600" b="1" i="0" dirty="0">
                <a:solidFill>
                  <a:srgbClr val="222222"/>
                </a:solidFill>
                <a:effectLst/>
                <a:latin typeface="Monseratt semibold"/>
              </a:rPr>
              <a:t>Model 1: Decision Tree Classifier</a:t>
            </a:r>
            <a:endParaRPr kumimoji="0" lang="en-US" sz="4400" b="1" i="0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seratt semibold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5491A0-8338-27DF-7591-BFDB013C963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" b="1220"/>
          <a:stretch/>
        </p:blipFill>
        <p:spPr>
          <a:xfrm>
            <a:off x="1480377" y="2235645"/>
            <a:ext cx="9050013" cy="412161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407643A-0DE3-5146-C797-3D1FAAFADDDF}"/>
              </a:ext>
            </a:extLst>
          </p:cNvPr>
          <p:cNvSpPr txBox="1"/>
          <p:nvPr/>
        </p:nvSpPr>
        <p:spPr>
          <a:xfrm>
            <a:off x="1409484" y="805189"/>
            <a:ext cx="91918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4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IN" sz="4400" b="1" i="0" u="sng" kern="100" dirty="0">
                <a:solidFill>
                  <a:srgbClr val="222222"/>
                </a:solidFill>
                <a:effectLst/>
                <a:latin typeface="Monseratt semibold"/>
                <a:cs typeface="Times New Roman" panose="02020603050405020304" pitchFamily="18" charset="0"/>
              </a:rPr>
              <a:t>Model </a:t>
            </a:r>
            <a:r>
              <a:rPr lang="en-IN" sz="4400" b="1" u="sng" kern="100" dirty="0">
                <a:solidFill>
                  <a:srgbClr val="222222"/>
                </a:solidFill>
                <a:latin typeface="Monseratt semibold"/>
                <a:cs typeface="Times New Roman" panose="02020603050405020304" pitchFamily="18" charset="0"/>
              </a:rPr>
              <a:t>Development and Evaluation </a:t>
            </a:r>
            <a:endParaRPr kumimoji="0" lang="en-US" sz="44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seratt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14274838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7275D-5C77-CCA5-39D9-286A7289F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42C7B70-10A2-6D6C-7067-8E39751CED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23"/>
          <a:stretch/>
        </p:blipFill>
        <p:spPr>
          <a:xfrm>
            <a:off x="8958648" y="0"/>
            <a:ext cx="3233351" cy="81253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C2FD263-5AF5-B625-6AD8-5645370BA7D1}"/>
              </a:ext>
            </a:extLst>
          </p:cNvPr>
          <p:cNvSpPr txBox="1"/>
          <p:nvPr/>
        </p:nvSpPr>
        <p:spPr>
          <a:xfrm>
            <a:off x="94733" y="1581972"/>
            <a:ext cx="71043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marR="0" lvl="0" indent="-35560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IN" sz="3600" b="1" i="0" dirty="0">
                <a:solidFill>
                  <a:srgbClr val="222222"/>
                </a:solidFill>
                <a:effectLst/>
                <a:latin typeface="Monseratt semibold"/>
              </a:rPr>
              <a:t>Model 1: Decision Tree Classifier</a:t>
            </a:r>
            <a:endParaRPr kumimoji="0" lang="en-US" sz="4400" b="1" i="0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seratt semibold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ADD6B6-2C35-C2C6-0C0E-B22BCC78B0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7314" y="2104931"/>
            <a:ext cx="7997372" cy="359650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B1A038B-839C-396A-C477-2635FDC4D1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7314" y="5701433"/>
            <a:ext cx="7997372" cy="90142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C8036CB-8FDA-947C-7C12-B825DFD9A02A}"/>
              </a:ext>
            </a:extLst>
          </p:cNvPr>
          <p:cNvSpPr txBox="1"/>
          <p:nvPr/>
        </p:nvSpPr>
        <p:spPr>
          <a:xfrm>
            <a:off x="1409484" y="805189"/>
            <a:ext cx="91918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4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IN" sz="4400" b="1" i="0" u="sng" kern="100" dirty="0">
                <a:solidFill>
                  <a:srgbClr val="222222"/>
                </a:solidFill>
                <a:effectLst/>
                <a:latin typeface="Monseratt semibold"/>
                <a:cs typeface="Times New Roman" panose="02020603050405020304" pitchFamily="18" charset="0"/>
              </a:rPr>
              <a:t>Model </a:t>
            </a:r>
            <a:r>
              <a:rPr lang="en-IN" sz="4400" b="1" u="sng" kern="100" dirty="0">
                <a:solidFill>
                  <a:srgbClr val="222222"/>
                </a:solidFill>
                <a:latin typeface="Monseratt semibold"/>
                <a:cs typeface="Times New Roman" panose="02020603050405020304" pitchFamily="18" charset="0"/>
              </a:rPr>
              <a:t>Development and Evaluation </a:t>
            </a:r>
            <a:endParaRPr kumimoji="0" lang="en-US" sz="44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seratt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34607712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38056-0C99-0B83-FDE4-4988CBF80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B702B21-FCC8-A5A3-0579-9F3F9E816F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23"/>
          <a:stretch/>
        </p:blipFill>
        <p:spPr>
          <a:xfrm>
            <a:off x="8958648" y="0"/>
            <a:ext cx="3233351" cy="81253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A4CA787-6001-4E3E-AFC0-E562A8B19D5E}"/>
              </a:ext>
            </a:extLst>
          </p:cNvPr>
          <p:cNvSpPr txBox="1"/>
          <p:nvPr/>
        </p:nvSpPr>
        <p:spPr>
          <a:xfrm>
            <a:off x="94733" y="1581972"/>
            <a:ext cx="71043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marR="0" lvl="0" indent="-35560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IN" sz="3600" b="1" i="0" dirty="0">
                <a:solidFill>
                  <a:srgbClr val="222222"/>
                </a:solidFill>
                <a:effectLst/>
                <a:latin typeface="Monseratt semibold"/>
              </a:rPr>
              <a:t>Model </a:t>
            </a:r>
            <a:r>
              <a:rPr lang="en-IN" sz="3600" b="1" dirty="0">
                <a:solidFill>
                  <a:srgbClr val="222222"/>
                </a:solidFill>
                <a:latin typeface="Monseratt semibold"/>
              </a:rPr>
              <a:t>2</a:t>
            </a:r>
            <a:r>
              <a:rPr lang="en-IN" sz="3600" b="1" i="0" dirty="0">
                <a:solidFill>
                  <a:srgbClr val="222222"/>
                </a:solidFill>
                <a:effectLst/>
                <a:latin typeface="Monseratt semibold"/>
              </a:rPr>
              <a:t>: Random Forest Classifier</a:t>
            </a:r>
            <a:endParaRPr kumimoji="0" lang="en-US" sz="4400" b="1" i="0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seratt semibold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11B698-8B88-79CD-E2FD-10FA4DF13E7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8944"/>
          <a:stretch/>
        </p:blipFill>
        <p:spPr>
          <a:xfrm>
            <a:off x="1564012" y="2228303"/>
            <a:ext cx="9063976" cy="442649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4F84696-C27F-E9B1-E99D-1056476F51A0}"/>
              </a:ext>
            </a:extLst>
          </p:cNvPr>
          <p:cNvSpPr txBox="1"/>
          <p:nvPr/>
        </p:nvSpPr>
        <p:spPr>
          <a:xfrm>
            <a:off x="1409484" y="805189"/>
            <a:ext cx="91918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4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IN" sz="4400" b="1" i="0" u="sng" kern="100" dirty="0">
                <a:solidFill>
                  <a:srgbClr val="222222"/>
                </a:solidFill>
                <a:effectLst/>
                <a:latin typeface="Monseratt semibold"/>
                <a:cs typeface="Times New Roman" panose="02020603050405020304" pitchFamily="18" charset="0"/>
              </a:rPr>
              <a:t>Model </a:t>
            </a:r>
            <a:r>
              <a:rPr lang="en-IN" sz="4400" b="1" u="sng" kern="100" dirty="0">
                <a:solidFill>
                  <a:srgbClr val="222222"/>
                </a:solidFill>
                <a:latin typeface="Monseratt semibold"/>
                <a:cs typeface="Times New Roman" panose="02020603050405020304" pitchFamily="18" charset="0"/>
              </a:rPr>
              <a:t>Development and Evaluation </a:t>
            </a:r>
            <a:endParaRPr kumimoji="0" lang="en-US" sz="44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seratt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4933820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C6B1EF-52AE-EF87-577D-EABE19A7E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D6DDD7D-E164-BD95-475C-E816B68AEE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23"/>
          <a:stretch/>
        </p:blipFill>
        <p:spPr>
          <a:xfrm>
            <a:off x="8958648" y="0"/>
            <a:ext cx="3233351" cy="81253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C5EF5A6-CA92-5459-7F1A-D7B731DFFA3B}"/>
              </a:ext>
            </a:extLst>
          </p:cNvPr>
          <p:cNvSpPr txBox="1"/>
          <p:nvPr/>
        </p:nvSpPr>
        <p:spPr>
          <a:xfrm>
            <a:off x="94733" y="1581972"/>
            <a:ext cx="71043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marR="0" lvl="0" indent="-35560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IN" sz="3600" b="1" i="0" dirty="0">
                <a:solidFill>
                  <a:srgbClr val="222222"/>
                </a:solidFill>
                <a:effectLst/>
                <a:latin typeface="Monseratt semibold"/>
              </a:rPr>
              <a:t>Model </a:t>
            </a:r>
            <a:r>
              <a:rPr lang="en-IN" sz="3600" b="1" dirty="0">
                <a:solidFill>
                  <a:srgbClr val="222222"/>
                </a:solidFill>
                <a:latin typeface="Monseratt semibold"/>
              </a:rPr>
              <a:t>2</a:t>
            </a:r>
            <a:r>
              <a:rPr lang="en-IN" sz="3600" b="1" i="0" dirty="0">
                <a:solidFill>
                  <a:srgbClr val="222222"/>
                </a:solidFill>
                <a:effectLst/>
                <a:latin typeface="Monseratt semibold"/>
              </a:rPr>
              <a:t>: Random Forest Classifier</a:t>
            </a:r>
            <a:endParaRPr kumimoji="0" lang="en-US" sz="4400" b="1" i="0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seratt semibold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9EFD6A-5A17-98CA-241A-5A381C8A6D7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4289" b="13537"/>
          <a:stretch/>
        </p:blipFill>
        <p:spPr>
          <a:xfrm>
            <a:off x="1411612" y="2228303"/>
            <a:ext cx="9063976" cy="454297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30839F6-D186-C6D0-99DA-B82FEF45E4CA}"/>
              </a:ext>
            </a:extLst>
          </p:cNvPr>
          <p:cNvSpPr txBox="1"/>
          <p:nvPr/>
        </p:nvSpPr>
        <p:spPr>
          <a:xfrm>
            <a:off x="1409484" y="805189"/>
            <a:ext cx="91918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4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IN" sz="4400" b="1" i="0" u="sng" kern="100" dirty="0">
                <a:solidFill>
                  <a:srgbClr val="222222"/>
                </a:solidFill>
                <a:effectLst/>
                <a:latin typeface="Monseratt semibold"/>
                <a:cs typeface="Times New Roman" panose="02020603050405020304" pitchFamily="18" charset="0"/>
              </a:rPr>
              <a:t>Model </a:t>
            </a:r>
            <a:r>
              <a:rPr lang="en-IN" sz="4400" b="1" u="sng" kern="100" dirty="0">
                <a:solidFill>
                  <a:srgbClr val="222222"/>
                </a:solidFill>
                <a:latin typeface="Monseratt semibold"/>
                <a:cs typeface="Times New Roman" panose="02020603050405020304" pitchFamily="18" charset="0"/>
              </a:rPr>
              <a:t>Development and Evaluation </a:t>
            </a:r>
            <a:endParaRPr kumimoji="0" lang="en-US" sz="44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seratt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36806078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B60552-6E66-9627-6C1A-177749704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886EA6F-7886-7EA5-D0DA-0834A781B3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23"/>
          <a:stretch/>
        </p:blipFill>
        <p:spPr>
          <a:xfrm>
            <a:off x="8958648" y="0"/>
            <a:ext cx="3233351" cy="81253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1CBB09F-8B18-8DCC-3857-3EB400712736}"/>
              </a:ext>
            </a:extLst>
          </p:cNvPr>
          <p:cNvSpPr txBox="1"/>
          <p:nvPr/>
        </p:nvSpPr>
        <p:spPr>
          <a:xfrm>
            <a:off x="94733" y="1581972"/>
            <a:ext cx="71043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marR="0" lvl="0" indent="-35560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IN" sz="3600" b="1" i="0" dirty="0">
                <a:solidFill>
                  <a:srgbClr val="222222"/>
                </a:solidFill>
                <a:effectLst/>
                <a:latin typeface="Monseratt semibold"/>
              </a:rPr>
              <a:t>Model </a:t>
            </a:r>
            <a:r>
              <a:rPr lang="en-IN" sz="3600" b="1" dirty="0">
                <a:solidFill>
                  <a:srgbClr val="222222"/>
                </a:solidFill>
                <a:latin typeface="Monseratt semibold"/>
              </a:rPr>
              <a:t>2</a:t>
            </a:r>
            <a:r>
              <a:rPr lang="en-IN" sz="3600" b="1" i="0" dirty="0">
                <a:solidFill>
                  <a:srgbClr val="222222"/>
                </a:solidFill>
                <a:effectLst/>
                <a:latin typeface="Monseratt semibold"/>
              </a:rPr>
              <a:t>: Random Forest Classifier</a:t>
            </a:r>
            <a:endParaRPr kumimoji="0" lang="en-US" sz="4400" b="1" i="0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seratt semibold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D4DD56-AB68-27E4-BA95-2D827E0CB38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9385" b="48"/>
          <a:stretch/>
        </p:blipFill>
        <p:spPr>
          <a:xfrm>
            <a:off x="1197429" y="2516400"/>
            <a:ext cx="9797142" cy="12315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6FB19EE-8200-4625-24F1-FE8C401A6F2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66"/>
          <a:stretch/>
        </p:blipFill>
        <p:spPr>
          <a:xfrm>
            <a:off x="1197429" y="3747932"/>
            <a:ext cx="9764779" cy="142909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1E5A315-F044-8046-101F-015B26EB6EBB}"/>
              </a:ext>
            </a:extLst>
          </p:cNvPr>
          <p:cNvSpPr txBox="1"/>
          <p:nvPr/>
        </p:nvSpPr>
        <p:spPr>
          <a:xfrm>
            <a:off x="1409484" y="805189"/>
            <a:ext cx="91918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4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IN" sz="4400" b="1" i="0" u="sng" kern="100" dirty="0">
                <a:solidFill>
                  <a:srgbClr val="222222"/>
                </a:solidFill>
                <a:effectLst/>
                <a:latin typeface="Monseratt semibold"/>
                <a:cs typeface="Times New Roman" panose="02020603050405020304" pitchFamily="18" charset="0"/>
              </a:rPr>
              <a:t>Model </a:t>
            </a:r>
            <a:r>
              <a:rPr lang="en-IN" sz="4400" b="1" u="sng" kern="100" dirty="0">
                <a:solidFill>
                  <a:srgbClr val="222222"/>
                </a:solidFill>
                <a:latin typeface="Monseratt semibold"/>
                <a:cs typeface="Times New Roman" panose="02020603050405020304" pitchFamily="18" charset="0"/>
              </a:rPr>
              <a:t>Development and Evaluation </a:t>
            </a:r>
            <a:endParaRPr kumimoji="0" lang="en-US" sz="44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seratt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21039625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BAEE4-D2DA-89A5-2D6A-E34BB5DD9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7039116-D2EB-B425-0D7E-252CC3F7F5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23"/>
          <a:stretch/>
        </p:blipFill>
        <p:spPr>
          <a:xfrm>
            <a:off x="8958648" y="0"/>
            <a:ext cx="3233351" cy="81253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4EB8555-C27C-5F1B-83FE-A631BACE72A2}"/>
              </a:ext>
            </a:extLst>
          </p:cNvPr>
          <p:cNvSpPr txBox="1"/>
          <p:nvPr/>
        </p:nvSpPr>
        <p:spPr>
          <a:xfrm>
            <a:off x="94733" y="1581972"/>
            <a:ext cx="71043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marR="0" lvl="0" indent="-35560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IN" sz="3600" b="1" i="0" dirty="0">
                <a:solidFill>
                  <a:srgbClr val="222222"/>
                </a:solidFill>
                <a:effectLst/>
                <a:latin typeface="Monseratt semibold"/>
              </a:rPr>
              <a:t>Model 3: XG Boost</a:t>
            </a:r>
            <a:endParaRPr kumimoji="0" lang="en-US" sz="4400" b="1" i="0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seratt semibold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B15E533-B0D2-3AB3-50BC-17AB18B28D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3794" y="2129290"/>
            <a:ext cx="6476392" cy="459878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272818F-D421-74D7-24F7-D6935EE6969B}"/>
              </a:ext>
            </a:extLst>
          </p:cNvPr>
          <p:cNvSpPr txBox="1"/>
          <p:nvPr/>
        </p:nvSpPr>
        <p:spPr>
          <a:xfrm>
            <a:off x="1409484" y="805189"/>
            <a:ext cx="91918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4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IN" sz="4400" b="1" i="0" u="sng" kern="100" dirty="0">
                <a:solidFill>
                  <a:srgbClr val="222222"/>
                </a:solidFill>
                <a:effectLst/>
                <a:latin typeface="Monseratt semibold"/>
                <a:cs typeface="Times New Roman" panose="02020603050405020304" pitchFamily="18" charset="0"/>
              </a:rPr>
              <a:t>Model </a:t>
            </a:r>
            <a:r>
              <a:rPr lang="en-IN" sz="4400" b="1" u="sng" kern="100" dirty="0">
                <a:solidFill>
                  <a:srgbClr val="222222"/>
                </a:solidFill>
                <a:latin typeface="Monseratt semibold"/>
                <a:cs typeface="Times New Roman" panose="02020603050405020304" pitchFamily="18" charset="0"/>
              </a:rPr>
              <a:t>Development and Evaluation </a:t>
            </a:r>
            <a:endParaRPr kumimoji="0" lang="en-US" sz="44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seratt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3177884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66B77-E3DF-1F30-49B5-340ADEC10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30A32FF-25AC-259E-2DED-2D1FB556D2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23"/>
          <a:stretch/>
        </p:blipFill>
        <p:spPr>
          <a:xfrm>
            <a:off x="8958648" y="0"/>
            <a:ext cx="3233351" cy="81253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9AE7B34-F96E-25DB-0CA4-206A1C5E0E69}"/>
              </a:ext>
            </a:extLst>
          </p:cNvPr>
          <p:cNvSpPr txBox="1"/>
          <p:nvPr/>
        </p:nvSpPr>
        <p:spPr>
          <a:xfrm>
            <a:off x="94733" y="1581972"/>
            <a:ext cx="71043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marR="0" lvl="0" indent="-35560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IN" sz="3600" b="1" i="0" dirty="0">
                <a:solidFill>
                  <a:srgbClr val="222222"/>
                </a:solidFill>
                <a:effectLst/>
                <a:latin typeface="Monseratt semibold"/>
              </a:rPr>
              <a:t>Model 3: XG Boost</a:t>
            </a:r>
            <a:endParaRPr kumimoji="0" lang="en-US" sz="4400" b="1" i="0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seratt semibold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D93201-6375-5F89-2085-8BB50733ED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606" y="2379819"/>
            <a:ext cx="9810724" cy="385773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C783626-9E1C-1FC4-20DD-B68CA64572FD}"/>
              </a:ext>
            </a:extLst>
          </p:cNvPr>
          <p:cNvSpPr txBox="1"/>
          <p:nvPr/>
        </p:nvSpPr>
        <p:spPr>
          <a:xfrm>
            <a:off x="1409484" y="805189"/>
            <a:ext cx="91918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4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IN" sz="4400" b="1" i="0" u="sng" kern="100" dirty="0">
                <a:solidFill>
                  <a:srgbClr val="222222"/>
                </a:solidFill>
                <a:effectLst/>
                <a:latin typeface="Monseratt semibold"/>
                <a:cs typeface="Times New Roman" panose="02020603050405020304" pitchFamily="18" charset="0"/>
              </a:rPr>
              <a:t>Model </a:t>
            </a:r>
            <a:r>
              <a:rPr lang="en-IN" sz="4400" b="1" u="sng" kern="100" dirty="0">
                <a:solidFill>
                  <a:srgbClr val="222222"/>
                </a:solidFill>
                <a:latin typeface="Monseratt semibold"/>
                <a:cs typeface="Times New Roman" panose="02020603050405020304" pitchFamily="18" charset="0"/>
              </a:rPr>
              <a:t>Development and Evaluation </a:t>
            </a:r>
            <a:endParaRPr kumimoji="0" lang="en-US" sz="44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seratt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7367205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15A2B-92AF-2AD4-1586-F0E5C8F56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B2B281F-9E26-28B2-CA0A-0288249D6C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23"/>
          <a:stretch/>
        </p:blipFill>
        <p:spPr>
          <a:xfrm>
            <a:off x="8958648" y="0"/>
            <a:ext cx="3233351" cy="81253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A12E5FB-6AC1-F28F-F111-58568C748547}"/>
              </a:ext>
            </a:extLst>
          </p:cNvPr>
          <p:cNvSpPr txBox="1"/>
          <p:nvPr/>
        </p:nvSpPr>
        <p:spPr>
          <a:xfrm>
            <a:off x="94733" y="1581972"/>
            <a:ext cx="71043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marR="0" lvl="0" indent="-35560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IN" sz="3600" b="1" i="0" dirty="0">
                <a:solidFill>
                  <a:srgbClr val="222222"/>
                </a:solidFill>
                <a:effectLst/>
                <a:latin typeface="Monseratt semibold"/>
              </a:rPr>
              <a:t>Model 3: XG Boost</a:t>
            </a:r>
            <a:endParaRPr kumimoji="0" lang="en-US" sz="4400" b="1" i="0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seratt semibold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0468AB-2B4A-C9D2-BA38-30C5B96F53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415" y="2439619"/>
            <a:ext cx="9689908" cy="331013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54428CA-429B-9B3D-F743-517F8403756E}"/>
              </a:ext>
            </a:extLst>
          </p:cNvPr>
          <p:cNvSpPr txBox="1"/>
          <p:nvPr/>
        </p:nvSpPr>
        <p:spPr>
          <a:xfrm>
            <a:off x="1409484" y="805189"/>
            <a:ext cx="91918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4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IN" sz="4400" b="1" i="0" u="sng" kern="100" dirty="0">
                <a:solidFill>
                  <a:srgbClr val="222222"/>
                </a:solidFill>
                <a:effectLst/>
                <a:latin typeface="Monseratt semibold"/>
                <a:cs typeface="Times New Roman" panose="02020603050405020304" pitchFamily="18" charset="0"/>
              </a:rPr>
              <a:t>Model </a:t>
            </a:r>
            <a:r>
              <a:rPr lang="en-IN" sz="4400" b="1" u="sng" kern="100" dirty="0">
                <a:solidFill>
                  <a:srgbClr val="222222"/>
                </a:solidFill>
                <a:latin typeface="Monseratt semibold"/>
                <a:cs typeface="Times New Roman" panose="02020603050405020304" pitchFamily="18" charset="0"/>
              </a:rPr>
              <a:t>Development and Evaluation </a:t>
            </a:r>
            <a:endParaRPr kumimoji="0" lang="en-US" sz="44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seratt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7882639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6E881-434E-345F-BD9A-0D2258BE7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394AB24-D938-39CA-19A8-A9AF2A2DF3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23"/>
          <a:stretch/>
        </p:blipFill>
        <p:spPr>
          <a:xfrm>
            <a:off x="8958648" y="0"/>
            <a:ext cx="3233351" cy="81253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FCFDCA2-95AA-9F43-229D-317D473ECA1C}"/>
              </a:ext>
            </a:extLst>
          </p:cNvPr>
          <p:cNvSpPr txBox="1"/>
          <p:nvPr/>
        </p:nvSpPr>
        <p:spPr>
          <a:xfrm>
            <a:off x="94733" y="1581972"/>
            <a:ext cx="71043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marR="0" lvl="0" indent="-35560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IN" sz="3600" b="1" i="0" dirty="0">
                <a:solidFill>
                  <a:srgbClr val="222222"/>
                </a:solidFill>
                <a:effectLst/>
                <a:latin typeface="Monseratt semibold"/>
              </a:rPr>
              <a:t>Model 3: XG Boost</a:t>
            </a:r>
            <a:endParaRPr kumimoji="0" lang="en-US" sz="4400" b="1" i="0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seratt semibold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2278224-7515-471D-A286-9A3A167B95E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8778"/>
          <a:stretch>
            <a:fillRect/>
          </a:stretch>
        </p:blipFill>
        <p:spPr>
          <a:xfrm>
            <a:off x="468135" y="2436469"/>
            <a:ext cx="10856226" cy="266399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0CFEFA9-C052-1921-569D-4B609965494C}"/>
              </a:ext>
            </a:extLst>
          </p:cNvPr>
          <p:cNvSpPr txBox="1"/>
          <p:nvPr/>
        </p:nvSpPr>
        <p:spPr>
          <a:xfrm>
            <a:off x="1409484" y="805189"/>
            <a:ext cx="91918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4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IN" sz="4400" b="1" i="0" u="sng" kern="100" dirty="0">
                <a:solidFill>
                  <a:srgbClr val="222222"/>
                </a:solidFill>
                <a:effectLst/>
                <a:latin typeface="Monseratt semibold"/>
                <a:cs typeface="Times New Roman" panose="02020603050405020304" pitchFamily="18" charset="0"/>
              </a:rPr>
              <a:t>Model </a:t>
            </a:r>
            <a:r>
              <a:rPr lang="en-IN" sz="4400" b="1" u="sng" kern="100" dirty="0">
                <a:solidFill>
                  <a:srgbClr val="222222"/>
                </a:solidFill>
                <a:latin typeface="Monseratt semibold"/>
                <a:cs typeface="Times New Roman" panose="02020603050405020304" pitchFamily="18" charset="0"/>
              </a:rPr>
              <a:t>Development and Evaluation </a:t>
            </a:r>
            <a:endParaRPr kumimoji="0" lang="en-US" sz="44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seratt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41323133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1A936-42BA-6F42-5547-11F3886BC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864779B-E49D-6EAD-6356-DDD4C237A8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23"/>
          <a:stretch/>
        </p:blipFill>
        <p:spPr>
          <a:xfrm>
            <a:off x="8958648" y="0"/>
            <a:ext cx="3233351" cy="81253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33291A3-316F-E92A-2516-D3589A30BA49}"/>
              </a:ext>
            </a:extLst>
          </p:cNvPr>
          <p:cNvSpPr txBox="1"/>
          <p:nvPr/>
        </p:nvSpPr>
        <p:spPr>
          <a:xfrm>
            <a:off x="94733" y="1581972"/>
            <a:ext cx="71043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marR="0" lvl="0" indent="-35560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IN" sz="3600" b="1" i="0" dirty="0">
                <a:solidFill>
                  <a:srgbClr val="222222"/>
                </a:solidFill>
                <a:effectLst/>
                <a:latin typeface="Monseratt semibold"/>
              </a:rPr>
              <a:t>Model 3: XG Boost</a:t>
            </a:r>
            <a:endParaRPr kumimoji="0" lang="en-US" sz="4400" b="1" i="0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seratt semibold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F708DC-70EA-D101-9CE7-22A51529F14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1870"/>
          <a:stretch>
            <a:fillRect/>
          </a:stretch>
        </p:blipFill>
        <p:spPr>
          <a:xfrm>
            <a:off x="527354" y="2228303"/>
            <a:ext cx="11298227" cy="390960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00E57FB-962E-EF78-36E4-883E9BB4ACE3}"/>
              </a:ext>
            </a:extLst>
          </p:cNvPr>
          <p:cNvSpPr txBox="1"/>
          <p:nvPr/>
        </p:nvSpPr>
        <p:spPr>
          <a:xfrm>
            <a:off x="1409484" y="805189"/>
            <a:ext cx="91918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4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IN" sz="4400" b="1" i="0" u="sng" kern="100" dirty="0">
                <a:solidFill>
                  <a:srgbClr val="222222"/>
                </a:solidFill>
                <a:effectLst/>
                <a:latin typeface="Monseratt semibold"/>
                <a:cs typeface="Times New Roman" panose="02020603050405020304" pitchFamily="18" charset="0"/>
              </a:rPr>
              <a:t>Model </a:t>
            </a:r>
            <a:r>
              <a:rPr lang="en-IN" sz="4400" b="1" u="sng" kern="100" dirty="0">
                <a:solidFill>
                  <a:srgbClr val="222222"/>
                </a:solidFill>
                <a:latin typeface="Monseratt semibold"/>
                <a:cs typeface="Times New Roman" panose="02020603050405020304" pitchFamily="18" charset="0"/>
              </a:rPr>
              <a:t>Development and Evaluation </a:t>
            </a:r>
            <a:endParaRPr kumimoji="0" lang="en-US" sz="44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seratt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24160257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A2577A-A37E-D209-868A-F38187CF0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21C1707-F2E2-FC59-6EAA-2648825096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23"/>
          <a:stretch/>
        </p:blipFill>
        <p:spPr>
          <a:xfrm>
            <a:off x="8958648" y="0"/>
            <a:ext cx="3233351" cy="81253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664638B-9766-90C3-3C9C-7088358B16D1}"/>
              </a:ext>
            </a:extLst>
          </p:cNvPr>
          <p:cNvSpPr txBox="1"/>
          <p:nvPr/>
        </p:nvSpPr>
        <p:spPr>
          <a:xfrm>
            <a:off x="94733" y="1581972"/>
            <a:ext cx="71043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marR="0" lvl="0" indent="-35560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IN" sz="3600" b="1" i="0" dirty="0">
                <a:solidFill>
                  <a:srgbClr val="222222"/>
                </a:solidFill>
                <a:effectLst/>
                <a:latin typeface="Monseratt semibold"/>
              </a:rPr>
              <a:t>Model 3: XG Boost</a:t>
            </a:r>
            <a:endParaRPr kumimoji="0" lang="en-US" sz="4400" b="1" i="0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seratt semibold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D52C08-763E-3823-33A2-1120879084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178" y="2235645"/>
            <a:ext cx="10296412" cy="434762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52E7AD8-C8CC-E776-71D2-BDDDB22380C2}"/>
              </a:ext>
            </a:extLst>
          </p:cNvPr>
          <p:cNvSpPr txBox="1"/>
          <p:nvPr/>
        </p:nvSpPr>
        <p:spPr>
          <a:xfrm>
            <a:off x="1409484" y="805189"/>
            <a:ext cx="91918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4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IN" sz="4400" b="1" i="0" u="sng" kern="100" dirty="0">
                <a:solidFill>
                  <a:srgbClr val="222222"/>
                </a:solidFill>
                <a:effectLst/>
                <a:latin typeface="Monseratt semibold"/>
                <a:cs typeface="Times New Roman" panose="02020603050405020304" pitchFamily="18" charset="0"/>
              </a:rPr>
              <a:t>Model </a:t>
            </a:r>
            <a:r>
              <a:rPr lang="en-IN" sz="4400" b="1" u="sng" kern="100" dirty="0">
                <a:solidFill>
                  <a:srgbClr val="222222"/>
                </a:solidFill>
                <a:latin typeface="Monseratt semibold"/>
                <a:cs typeface="Times New Roman" panose="02020603050405020304" pitchFamily="18" charset="0"/>
              </a:rPr>
              <a:t>Development and Evaluation </a:t>
            </a:r>
            <a:endParaRPr kumimoji="0" lang="en-US" sz="44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seratt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14598490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DE909-D495-CC40-DC85-BBFD38136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71BA2D3-283C-F216-A311-03A60E821E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23"/>
          <a:stretch/>
        </p:blipFill>
        <p:spPr>
          <a:xfrm>
            <a:off x="8958648" y="0"/>
            <a:ext cx="3233351" cy="81253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68E28D6-9A49-6797-CFD5-4E12AC0B8F86}"/>
              </a:ext>
            </a:extLst>
          </p:cNvPr>
          <p:cNvSpPr txBox="1"/>
          <p:nvPr/>
        </p:nvSpPr>
        <p:spPr>
          <a:xfrm>
            <a:off x="524256" y="2228671"/>
            <a:ext cx="1114348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IN" sz="7200" b="1" u="sng" kern="100" dirty="0">
                <a:solidFill>
                  <a:srgbClr val="222222"/>
                </a:solidFill>
                <a:latin typeface="Monseratt semibold"/>
                <a:cs typeface="Times New Roman" panose="02020603050405020304" pitchFamily="18" charset="0"/>
              </a:rPr>
              <a:t>Frontend Deployment</a:t>
            </a:r>
            <a:endParaRPr kumimoji="0" lang="en-US" sz="36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seratt semi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9D4A71-504F-BF01-52C2-C376E155E1F3}"/>
              </a:ext>
            </a:extLst>
          </p:cNvPr>
          <p:cNvSpPr txBox="1"/>
          <p:nvPr/>
        </p:nvSpPr>
        <p:spPr>
          <a:xfrm>
            <a:off x="3443021" y="3697261"/>
            <a:ext cx="53059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seratt semibold"/>
              </a:rPr>
              <a:t>By:- Sane Harsh Balkrishna</a:t>
            </a:r>
          </a:p>
        </p:txBody>
      </p:sp>
    </p:spTree>
    <p:extLst>
      <p:ext uri="{BB962C8B-B14F-4D97-AF65-F5344CB8AC3E}">
        <p14:creationId xmlns:p14="http://schemas.microsoft.com/office/powerpoint/2010/main" val="25647903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2A12D6-B418-5A5E-2C8D-5BFD487E6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0AE0E8A-B423-AC81-F2A7-6B80F8A6C4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23"/>
          <a:stretch/>
        </p:blipFill>
        <p:spPr>
          <a:xfrm>
            <a:off x="8958648" y="0"/>
            <a:ext cx="3233351" cy="81253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EEECDE6-D355-C191-EE57-69B9E56994BB}"/>
              </a:ext>
            </a:extLst>
          </p:cNvPr>
          <p:cNvSpPr txBox="1"/>
          <p:nvPr/>
        </p:nvSpPr>
        <p:spPr>
          <a:xfrm>
            <a:off x="1045283" y="805189"/>
            <a:ext cx="992020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4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IN" sz="4400" b="1" u="sng" kern="100" dirty="0">
                <a:solidFill>
                  <a:srgbClr val="222222"/>
                </a:solidFill>
                <a:latin typeface="Monseratt semibold"/>
                <a:cs typeface="Times New Roman" panose="02020603050405020304" pitchFamily="18" charset="0"/>
              </a:rPr>
              <a:t>Frontend Deployment</a:t>
            </a:r>
            <a:endParaRPr kumimoji="0" lang="en-US" sz="44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seratt semi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51157D-42C8-2867-F2EB-470E15CFC4A9}"/>
              </a:ext>
            </a:extLst>
          </p:cNvPr>
          <p:cNvSpPr txBox="1"/>
          <p:nvPr/>
        </p:nvSpPr>
        <p:spPr>
          <a:xfrm>
            <a:off x="94733" y="1581972"/>
            <a:ext cx="71043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marR="0" lvl="0" indent="-35560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IN" sz="3600" b="1" dirty="0">
                <a:solidFill>
                  <a:srgbClr val="222222"/>
                </a:solidFill>
                <a:latin typeface="Monseratt semibold"/>
              </a:rPr>
              <a:t>Page-1 </a:t>
            </a:r>
            <a:r>
              <a:rPr lang="en-IN" sz="3600" b="1" i="0" dirty="0">
                <a:solidFill>
                  <a:srgbClr val="222222"/>
                </a:solidFill>
                <a:effectLst/>
                <a:latin typeface="Monseratt semibold"/>
              </a:rPr>
              <a:t>: Home Page </a:t>
            </a:r>
            <a:endParaRPr kumimoji="0" lang="en-US" sz="4400" b="1" i="0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seratt semibold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474B9F-5352-448D-31D4-EEC6C98C49B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080" t="6520" r="10060" b="12891"/>
          <a:stretch>
            <a:fillRect/>
          </a:stretch>
        </p:blipFill>
        <p:spPr>
          <a:xfrm>
            <a:off x="1301314" y="2169373"/>
            <a:ext cx="9408140" cy="4424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4513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40B86-7345-C647-133A-208A7F013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AB0510E-59C4-F2C3-FB2D-C1629FB01A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23"/>
          <a:stretch/>
        </p:blipFill>
        <p:spPr>
          <a:xfrm>
            <a:off x="8958648" y="0"/>
            <a:ext cx="3233351" cy="81253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4245361-C44F-3255-EE2B-85F65325BF31}"/>
              </a:ext>
            </a:extLst>
          </p:cNvPr>
          <p:cNvSpPr txBox="1"/>
          <p:nvPr/>
        </p:nvSpPr>
        <p:spPr>
          <a:xfrm>
            <a:off x="1045283" y="805189"/>
            <a:ext cx="992020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4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IN" sz="4400" b="1" u="sng" kern="100" dirty="0">
                <a:solidFill>
                  <a:srgbClr val="222222"/>
                </a:solidFill>
                <a:latin typeface="Monseratt semibold"/>
                <a:cs typeface="Times New Roman" panose="02020603050405020304" pitchFamily="18" charset="0"/>
              </a:rPr>
              <a:t>Frontend Deployment</a:t>
            </a:r>
            <a:endParaRPr kumimoji="0" lang="en-US" sz="44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seratt semi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AF6560-6F48-29DB-66D1-E0A57882207C}"/>
              </a:ext>
            </a:extLst>
          </p:cNvPr>
          <p:cNvSpPr txBox="1"/>
          <p:nvPr/>
        </p:nvSpPr>
        <p:spPr>
          <a:xfrm>
            <a:off x="94732" y="1581972"/>
            <a:ext cx="97954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marR="0" lvl="0" indent="-35560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IN" sz="3600" b="1" dirty="0">
                <a:solidFill>
                  <a:srgbClr val="222222"/>
                </a:solidFill>
                <a:latin typeface="Monseratt semibold"/>
              </a:rPr>
              <a:t>Page-2 </a:t>
            </a:r>
            <a:r>
              <a:rPr lang="en-IN" sz="3600" b="1" i="0" dirty="0">
                <a:solidFill>
                  <a:srgbClr val="222222"/>
                </a:solidFill>
                <a:effectLst/>
                <a:latin typeface="Monseratt semibold"/>
              </a:rPr>
              <a:t>: Prediction Page {Before Submission}  </a:t>
            </a:r>
            <a:endParaRPr kumimoji="0" lang="en-US" sz="4400" b="1" i="0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seratt semibold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7FF2F3-717D-CC5D-65B8-B98C5FFF5E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27" r="8927"/>
          <a:stretch/>
        </p:blipFill>
        <p:spPr>
          <a:xfrm>
            <a:off x="2056308" y="2235645"/>
            <a:ext cx="7898152" cy="4488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98305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A19A5-AE11-ABF3-262F-3733A2B2B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EAA38C2-682C-8C47-A46E-79C9150707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23"/>
          <a:stretch/>
        </p:blipFill>
        <p:spPr>
          <a:xfrm>
            <a:off x="8958648" y="0"/>
            <a:ext cx="3233351" cy="81253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E89668C-66B4-29F7-6363-4DA55A7374B0}"/>
              </a:ext>
            </a:extLst>
          </p:cNvPr>
          <p:cNvSpPr txBox="1"/>
          <p:nvPr/>
        </p:nvSpPr>
        <p:spPr>
          <a:xfrm>
            <a:off x="1045283" y="805189"/>
            <a:ext cx="992020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4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IN" sz="4400" b="1" u="sng" kern="100" dirty="0">
                <a:solidFill>
                  <a:srgbClr val="222222"/>
                </a:solidFill>
                <a:latin typeface="Monseratt semibold"/>
                <a:cs typeface="Times New Roman" panose="02020603050405020304" pitchFamily="18" charset="0"/>
              </a:rPr>
              <a:t>Frontend Deployment</a:t>
            </a:r>
            <a:endParaRPr kumimoji="0" lang="en-US" sz="44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seratt semi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AB7C3B-CCF7-4BFF-1E8E-9AC4A4A488E7}"/>
              </a:ext>
            </a:extLst>
          </p:cNvPr>
          <p:cNvSpPr txBox="1"/>
          <p:nvPr/>
        </p:nvSpPr>
        <p:spPr>
          <a:xfrm>
            <a:off x="94733" y="1581972"/>
            <a:ext cx="73082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marR="0" lvl="0" indent="-35560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IN" sz="3600" b="1" dirty="0">
                <a:solidFill>
                  <a:srgbClr val="222222"/>
                </a:solidFill>
                <a:latin typeface="Monseratt semibold"/>
              </a:rPr>
              <a:t>Page-2 </a:t>
            </a:r>
            <a:r>
              <a:rPr lang="en-IN" sz="3600" b="1" i="0" dirty="0">
                <a:solidFill>
                  <a:srgbClr val="222222"/>
                </a:solidFill>
                <a:effectLst/>
                <a:latin typeface="Monseratt semibold"/>
              </a:rPr>
              <a:t>: Prediction Page {Continue} </a:t>
            </a:r>
            <a:endParaRPr kumimoji="0" lang="en-US" sz="4400" b="1" i="0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seratt semibold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AEA27E-1AF5-9505-B5B2-83ADF2A831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12" t="8260" r="37573" b="453"/>
          <a:stretch>
            <a:fillRect/>
          </a:stretch>
        </p:blipFill>
        <p:spPr>
          <a:xfrm>
            <a:off x="3342255" y="2216178"/>
            <a:ext cx="5326258" cy="4641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9659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5A2C6-58A4-D748-05D9-7CA00FECA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AF0EA3A-B724-57D4-17E5-55591DDF4D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23"/>
          <a:stretch/>
        </p:blipFill>
        <p:spPr>
          <a:xfrm>
            <a:off x="8958648" y="0"/>
            <a:ext cx="3233351" cy="81253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4E24F58-C8EF-166E-CEE4-40586881723C}"/>
              </a:ext>
            </a:extLst>
          </p:cNvPr>
          <p:cNvSpPr txBox="1"/>
          <p:nvPr/>
        </p:nvSpPr>
        <p:spPr>
          <a:xfrm>
            <a:off x="1045283" y="805189"/>
            <a:ext cx="992020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4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IN" sz="4400" b="1" u="sng" kern="100" dirty="0">
                <a:solidFill>
                  <a:srgbClr val="222222"/>
                </a:solidFill>
                <a:latin typeface="Monseratt semibold"/>
                <a:cs typeface="Times New Roman" panose="02020603050405020304" pitchFamily="18" charset="0"/>
              </a:rPr>
              <a:t>Frontend Deployment</a:t>
            </a:r>
            <a:endParaRPr kumimoji="0" lang="en-US" sz="44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seratt semi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6255B1-A1BD-86AF-88B8-7222E06CA48D}"/>
              </a:ext>
            </a:extLst>
          </p:cNvPr>
          <p:cNvSpPr txBox="1"/>
          <p:nvPr/>
        </p:nvSpPr>
        <p:spPr>
          <a:xfrm>
            <a:off x="94733" y="1581972"/>
            <a:ext cx="115730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marR="0" lvl="0" indent="-35560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IN" sz="3600" b="1" dirty="0">
                <a:solidFill>
                  <a:srgbClr val="222222"/>
                </a:solidFill>
                <a:latin typeface="Monseratt semibold"/>
              </a:rPr>
              <a:t>Page-3 </a:t>
            </a:r>
            <a:r>
              <a:rPr lang="en-IN" sz="3600" b="1" i="0" dirty="0">
                <a:solidFill>
                  <a:srgbClr val="222222"/>
                </a:solidFill>
                <a:effectLst/>
                <a:latin typeface="Monseratt semibold"/>
              </a:rPr>
              <a:t>: AI Chat-Bot Page {Before Response} </a:t>
            </a:r>
            <a:endParaRPr kumimoji="0" lang="en-US" sz="4400" b="1" i="0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seratt semibold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C2C3073-2E93-F278-A683-DBBC606D20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0223" y="2170326"/>
            <a:ext cx="10131553" cy="4671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4782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AC762-96A8-C10B-9F9E-50DBB1355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EA7D51B-A0F4-968D-1AAB-BAAB6C8CDA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23"/>
          <a:stretch/>
        </p:blipFill>
        <p:spPr>
          <a:xfrm>
            <a:off x="8958648" y="0"/>
            <a:ext cx="3233351" cy="81253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9B6CD7F-09BE-CC54-BB83-422009E92914}"/>
              </a:ext>
            </a:extLst>
          </p:cNvPr>
          <p:cNvSpPr txBox="1"/>
          <p:nvPr/>
        </p:nvSpPr>
        <p:spPr>
          <a:xfrm>
            <a:off x="-360883" y="2228671"/>
            <a:ext cx="1291376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IN" sz="3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IN" sz="5400" b="1" u="sng" kern="100" dirty="0">
                <a:solidFill>
                  <a:srgbClr val="222222"/>
                </a:solidFill>
                <a:latin typeface="Monseratt semibold"/>
                <a:cs typeface="Times New Roman" panose="02020603050405020304" pitchFamily="18" charset="0"/>
              </a:rPr>
              <a:t>{Feature} Insights and Recommendations</a:t>
            </a:r>
            <a:endParaRPr lang="en-US" sz="5400" b="1" u="sng" dirty="0">
              <a:solidFill>
                <a:prstClr val="black"/>
              </a:solidFill>
              <a:latin typeface="Monseratt semi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899AD3-EAE9-0941-1E98-D4FE88A3F3CA}"/>
              </a:ext>
            </a:extLst>
          </p:cNvPr>
          <p:cNvSpPr txBox="1"/>
          <p:nvPr/>
        </p:nvSpPr>
        <p:spPr>
          <a:xfrm>
            <a:off x="2930957" y="3697261"/>
            <a:ext cx="63300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seratt semibold"/>
              </a:rPr>
              <a:t>By:- Jaiswal Vaibhav </a:t>
            </a:r>
            <a:r>
              <a:rPr kumimoji="0" lang="en-US" sz="3600" b="1" i="0" u="sng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seratt semibold"/>
              </a:rPr>
              <a:t>Rohitbhai</a:t>
            </a:r>
            <a:endParaRPr kumimoji="0" lang="en-US" sz="36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seratt semibold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2528155-DDED-D4BC-C272-EE0852930B2E}"/>
              </a:ext>
            </a:extLst>
          </p:cNvPr>
          <p:cNvSpPr txBox="1">
            <a:spLocks/>
          </p:cNvSpPr>
          <p:nvPr/>
        </p:nvSpPr>
        <p:spPr>
          <a:xfrm>
            <a:off x="729048" y="2394503"/>
            <a:ext cx="8229600" cy="306718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1463" indent="-271463">
              <a:buFont typeface="Arial" panose="020B0604020202020204" pitchFamily="34" charset="0"/>
              <a:buNone/>
            </a:pPr>
            <a:endParaRPr lang="en-IN" sz="2400" dirty="0">
              <a:solidFill>
                <a:schemeClr val="accent5"/>
              </a:solidFill>
              <a:latin typeface="Monseratt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36416608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98EE7-B308-61EF-93B9-6D0B75E4A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A6E2032-A6CD-478F-7206-F6950F172D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23"/>
          <a:stretch/>
        </p:blipFill>
        <p:spPr>
          <a:xfrm>
            <a:off x="8958648" y="0"/>
            <a:ext cx="3233351" cy="81253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387A255-EB44-A629-8E51-21E6F1591869}"/>
              </a:ext>
            </a:extLst>
          </p:cNvPr>
          <p:cNvSpPr txBox="1"/>
          <p:nvPr/>
        </p:nvSpPr>
        <p:spPr>
          <a:xfrm>
            <a:off x="1045283" y="805189"/>
            <a:ext cx="992020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4400" b="1" u="sng" kern="100" dirty="0">
                <a:solidFill>
                  <a:srgbClr val="222222"/>
                </a:solidFill>
                <a:latin typeface="Monseratt semibold"/>
                <a:cs typeface="Times New Roman" panose="02020603050405020304" pitchFamily="18" charset="0"/>
              </a:rPr>
              <a:t>{Feature} Insights and Recommendations </a:t>
            </a:r>
            <a:endParaRPr kumimoji="0" lang="en-US" sz="44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seratt semi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9961DC-3A68-AA92-27FE-17162F3630D1}"/>
              </a:ext>
            </a:extLst>
          </p:cNvPr>
          <p:cNvSpPr txBox="1"/>
          <p:nvPr/>
        </p:nvSpPr>
        <p:spPr>
          <a:xfrm>
            <a:off x="94733" y="1581972"/>
            <a:ext cx="92540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marR="0" lvl="0" indent="-35560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IN" sz="3600" b="1" dirty="0">
                <a:solidFill>
                  <a:srgbClr val="222222"/>
                </a:solidFill>
                <a:latin typeface="Monseratt semibold"/>
              </a:rPr>
              <a:t>Page-2 </a:t>
            </a:r>
            <a:r>
              <a:rPr lang="en-IN" sz="3600" b="1" i="0" dirty="0">
                <a:solidFill>
                  <a:srgbClr val="222222"/>
                </a:solidFill>
                <a:effectLst/>
                <a:latin typeface="Monseratt semibold"/>
              </a:rPr>
              <a:t>: Prediction Page {After Submission}</a:t>
            </a:r>
            <a:endParaRPr kumimoji="0" lang="en-US" sz="4400" b="1" i="0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seratt semibold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B9A83B-FA72-7AB8-2FDD-C5E1E284366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636" t="1987" r="11924"/>
          <a:stretch>
            <a:fillRect/>
          </a:stretch>
        </p:blipFill>
        <p:spPr>
          <a:xfrm>
            <a:off x="2056308" y="2235645"/>
            <a:ext cx="7898152" cy="4488918"/>
          </a:xfrm>
          <a:prstGeom prst="rect">
            <a:avLst/>
          </a:prstGeom>
          <a:ln>
            <a:noFill/>
            <a:prstDash val="sysDash"/>
          </a:ln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65CE08F-271B-3291-ECF9-31465F97612E}"/>
              </a:ext>
            </a:extLst>
          </p:cNvPr>
          <p:cNvSpPr/>
          <p:nvPr/>
        </p:nvSpPr>
        <p:spPr>
          <a:xfrm>
            <a:off x="7359091" y="4065362"/>
            <a:ext cx="2399386" cy="2421331"/>
          </a:xfrm>
          <a:prstGeom prst="roundRect">
            <a:avLst>
              <a:gd name="adj" fmla="val 11484"/>
            </a:avLst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E2E86A4D-F89A-2EF0-81FC-FF815F40821C}"/>
              </a:ext>
            </a:extLst>
          </p:cNvPr>
          <p:cNvSpPr/>
          <p:nvPr/>
        </p:nvSpPr>
        <p:spPr>
          <a:xfrm rot="2196036">
            <a:off x="6001110" y="3413765"/>
            <a:ext cx="1461228" cy="468930"/>
          </a:xfrm>
          <a:prstGeom prst="rightArrow">
            <a:avLst>
              <a:gd name="adj1" fmla="val 20909"/>
              <a:gd name="adj2" fmla="val 75455"/>
            </a:avLst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63162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14A00-83ED-8A33-902E-5D2967DA3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4AC26D3-7967-E5DE-AD2A-5EE2CE5ED1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23"/>
          <a:stretch/>
        </p:blipFill>
        <p:spPr>
          <a:xfrm>
            <a:off x="8958648" y="0"/>
            <a:ext cx="3233351" cy="81253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255E1AD-E7EB-F297-08B1-3CDD9E05CA07}"/>
              </a:ext>
            </a:extLst>
          </p:cNvPr>
          <p:cNvSpPr txBox="1"/>
          <p:nvPr/>
        </p:nvSpPr>
        <p:spPr>
          <a:xfrm>
            <a:off x="94733" y="1581972"/>
            <a:ext cx="73082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marR="0" lvl="0" indent="-35560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IN" sz="3600" b="1" dirty="0">
                <a:solidFill>
                  <a:srgbClr val="222222"/>
                </a:solidFill>
                <a:latin typeface="Monseratt semibold"/>
              </a:rPr>
              <a:t>Page-2 </a:t>
            </a:r>
            <a:r>
              <a:rPr lang="en-IN" sz="3600" b="1" i="0" dirty="0">
                <a:solidFill>
                  <a:srgbClr val="222222"/>
                </a:solidFill>
                <a:effectLst/>
                <a:latin typeface="Monseratt semibold"/>
              </a:rPr>
              <a:t>: Prediction Page {Continue} </a:t>
            </a:r>
            <a:endParaRPr kumimoji="0" lang="en-US" sz="4400" b="1" i="0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seratt semibold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567A32-6C3B-AACC-E0E1-88439B9F397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001" t="7787" r="1314" b="2557"/>
          <a:stretch>
            <a:fillRect/>
          </a:stretch>
        </p:blipFill>
        <p:spPr>
          <a:xfrm>
            <a:off x="3203267" y="2159880"/>
            <a:ext cx="5604234" cy="469380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90D0CC2-1031-2303-7099-39786A7F9B8D}"/>
              </a:ext>
            </a:extLst>
          </p:cNvPr>
          <p:cNvSpPr txBox="1"/>
          <p:nvPr/>
        </p:nvSpPr>
        <p:spPr>
          <a:xfrm>
            <a:off x="1045283" y="805189"/>
            <a:ext cx="992020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4400" b="1" u="sng" kern="100" dirty="0">
                <a:solidFill>
                  <a:srgbClr val="222222"/>
                </a:solidFill>
                <a:latin typeface="Monseratt semibold"/>
                <a:cs typeface="Times New Roman" panose="02020603050405020304" pitchFamily="18" charset="0"/>
              </a:rPr>
              <a:t>{Feature} Insights and Recommendations </a:t>
            </a:r>
            <a:endParaRPr kumimoji="0" lang="en-US" sz="44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seratt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23017740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C347D7-0FA5-40B9-BEAF-62E5DFEB7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ED32BBB-042E-5FF2-CBE2-A706CA49F6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23"/>
          <a:stretch/>
        </p:blipFill>
        <p:spPr>
          <a:xfrm>
            <a:off x="8958648" y="0"/>
            <a:ext cx="3233351" cy="81253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E5A4EF-0B82-9993-BDC7-2F4AC157A1EA}"/>
              </a:ext>
            </a:extLst>
          </p:cNvPr>
          <p:cNvSpPr txBox="1"/>
          <p:nvPr/>
        </p:nvSpPr>
        <p:spPr>
          <a:xfrm>
            <a:off x="94733" y="1581972"/>
            <a:ext cx="1122188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marR="0" lvl="0" indent="-35560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IN" sz="3600" b="1" dirty="0">
                <a:solidFill>
                  <a:srgbClr val="222222"/>
                </a:solidFill>
                <a:latin typeface="Monseratt semibold"/>
              </a:rPr>
              <a:t>Page-3 </a:t>
            </a:r>
            <a:r>
              <a:rPr lang="en-IN" sz="3600" b="1" i="0" dirty="0">
                <a:solidFill>
                  <a:srgbClr val="222222"/>
                </a:solidFill>
                <a:effectLst/>
                <a:latin typeface="Monseratt semibold"/>
              </a:rPr>
              <a:t>: AI Chat-Bot Page {After Response}</a:t>
            </a:r>
            <a:endParaRPr kumimoji="0" lang="en-US" sz="4400" b="1" i="0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seratt semibold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3556D3E-1277-102D-F091-4FC37D64F8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223" y="2154489"/>
            <a:ext cx="10131553" cy="470351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DB44CF6-FE7C-2FCA-C001-7DAE33F85C6C}"/>
              </a:ext>
            </a:extLst>
          </p:cNvPr>
          <p:cNvSpPr txBox="1"/>
          <p:nvPr/>
        </p:nvSpPr>
        <p:spPr>
          <a:xfrm>
            <a:off x="1045283" y="805189"/>
            <a:ext cx="992020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4400" b="1" u="sng" kern="100" dirty="0">
                <a:solidFill>
                  <a:srgbClr val="222222"/>
                </a:solidFill>
                <a:latin typeface="Monseratt semibold"/>
                <a:cs typeface="Times New Roman" panose="02020603050405020304" pitchFamily="18" charset="0"/>
              </a:rPr>
              <a:t>{Feature} Insights and Recommendations </a:t>
            </a:r>
            <a:endParaRPr kumimoji="0" lang="en-US" sz="44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seratt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9585379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098893-CB38-A6CA-ED57-99162F6AD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32BCE48-2640-7DE3-8769-3512F38DC6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23"/>
          <a:stretch/>
        </p:blipFill>
        <p:spPr>
          <a:xfrm>
            <a:off x="8958648" y="0"/>
            <a:ext cx="3233351" cy="81253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F1692BD-6436-B761-0F7D-E8917DDE6761}"/>
              </a:ext>
            </a:extLst>
          </p:cNvPr>
          <p:cNvSpPr txBox="1"/>
          <p:nvPr/>
        </p:nvSpPr>
        <p:spPr>
          <a:xfrm>
            <a:off x="2837935" y="812531"/>
            <a:ext cx="651613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4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IN" sz="4400" b="1" u="sng" dirty="0">
                <a:solidFill>
                  <a:srgbClr val="222222"/>
                </a:solidFill>
                <a:latin typeface="Monseratt semibold"/>
              </a:rPr>
              <a:t>List of Research Papers</a:t>
            </a:r>
            <a:endParaRPr kumimoji="0" lang="en-US" sz="44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seratt semibold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7ED319C-38EB-DBE8-0D7B-E9E9AE1B646F}"/>
              </a:ext>
            </a:extLst>
          </p:cNvPr>
          <p:cNvGraphicFramePr>
            <a:graphicFrameLocks noGrp="1"/>
          </p:cNvGraphicFramePr>
          <p:nvPr/>
        </p:nvGraphicFramePr>
        <p:xfrm>
          <a:off x="326179" y="1581972"/>
          <a:ext cx="5769821" cy="4846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2049">
                  <a:extLst>
                    <a:ext uri="{9D8B030D-6E8A-4147-A177-3AD203B41FA5}">
                      <a16:colId xmlns:a16="http://schemas.microsoft.com/office/drawing/2014/main" val="846381541"/>
                    </a:ext>
                  </a:extLst>
                </a:gridCol>
                <a:gridCol w="4847772">
                  <a:extLst>
                    <a:ext uri="{9D8B030D-6E8A-4147-A177-3AD203B41FA5}">
                      <a16:colId xmlns:a16="http://schemas.microsoft.com/office/drawing/2014/main" val="2521413377"/>
                    </a:ext>
                  </a:extLst>
                </a:gridCol>
              </a:tblGrid>
              <a:tr h="350819"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Monseratt semibold"/>
                        </a:rPr>
                        <a:t>Sr 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Monseratt semibold"/>
                        </a:rPr>
                        <a:t>Research Paper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6335095"/>
                  </a:ext>
                </a:extLst>
              </a:tr>
              <a:tr h="331681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Monseratt semibold"/>
                        </a:rPr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Monseratt semibold"/>
                          <a:hlinkClick r:id="rId3"/>
                        </a:rPr>
                        <a:t>CUSTOMER CHURN PREDICTION ANALYSIS IN A TELECOMMUNICATION COMPANY WITH MACHINE LEARNING ALGORITHMS* </a:t>
                      </a:r>
                      <a:endParaRPr lang="en-IN" sz="1200" dirty="0">
                        <a:latin typeface="Monseratt semibold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4299926"/>
                  </a:ext>
                </a:extLst>
              </a:tr>
              <a:tr h="331681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Monseratt semibold"/>
                        </a:rPr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Monseratt semibold"/>
                          <a:hlinkClick r:id="rId4"/>
                        </a:rPr>
                        <a:t>APPLICATION OF MACHINE LEARNING TO CUSTOMER CHURN RISK PREDICTION</a:t>
                      </a:r>
                      <a:endParaRPr lang="en-IN" sz="1200" dirty="0">
                        <a:latin typeface="Monseratt semibold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7854311"/>
                  </a:ext>
                </a:extLst>
              </a:tr>
              <a:tr h="331681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Monseratt semibold"/>
                        </a:rPr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Monseratt semibold"/>
                          <a:hlinkClick r:id="rId5"/>
                        </a:rPr>
                        <a:t>CUSTOMER CHURN IN SUBSCRIPTION BUSINESS MODEL—PREDICTIVE ANALYTICS ON CUSTOMER CHURN</a:t>
                      </a:r>
                      <a:endParaRPr lang="en-IN" sz="1200" dirty="0">
                        <a:latin typeface="Monseratt semibold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0530375"/>
                  </a:ext>
                </a:extLst>
              </a:tr>
              <a:tr h="331681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Monseratt semibold"/>
                        </a:rPr>
                        <a:t>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Monseratt semibold"/>
                          <a:hlinkClick r:id="rId6"/>
                        </a:rPr>
                        <a:t>PREDICTION OF CUSTOMER CHURN BEHAVIOR IN THE TELECOMMUNICATION INDUSTRY USING MACHINE LEARNING MODELS</a:t>
                      </a:r>
                      <a:endParaRPr lang="en-IN" sz="1200" dirty="0">
                        <a:latin typeface="Monseratt semibold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7621118"/>
                  </a:ext>
                </a:extLst>
              </a:tr>
              <a:tr h="331681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Monseratt semibold"/>
                        </a:rPr>
                        <a:t>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Monseratt semibold"/>
                          <a:hlinkClick r:id="rId7"/>
                        </a:rPr>
                        <a:t>CHURN PREDICTION USING MACHINE LEARNING AND RECOMMENDATIONS PLANS FOR TELECOMS</a:t>
                      </a:r>
                      <a:endParaRPr lang="en-IN" sz="1200" dirty="0">
                        <a:latin typeface="Monseratt semibold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0596226"/>
                  </a:ext>
                </a:extLst>
              </a:tr>
              <a:tr h="331681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6.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Monseratt semibold"/>
                          <a:hlinkClick r:id="rId8"/>
                        </a:rPr>
                        <a:t>CUSTOMER CHURN PREDICTION IN TELECOM USING MACHINE LEARNING IN BIG DATA PLATFORM</a:t>
                      </a:r>
                      <a:endParaRPr lang="en-IN" sz="1200" dirty="0">
                        <a:latin typeface="Monseratt semibold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1227597"/>
                  </a:ext>
                </a:extLst>
              </a:tr>
              <a:tr h="331681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7.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Monseratt semibold"/>
                          <a:hlinkClick r:id="rId9"/>
                        </a:rPr>
                        <a:t>A COMPARATIVE STUDY OF CUSTOMER CHURN PREDICTION IN TELECOM INDUSTRY USING ENSEMBLE BASED CLASSIFIERS </a:t>
                      </a:r>
                      <a:endParaRPr lang="en-IN" sz="1200" dirty="0">
                        <a:latin typeface="Monseratt semibold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4115668"/>
                  </a:ext>
                </a:extLst>
              </a:tr>
              <a:tr h="331681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8.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Monseratt semibold"/>
                          <a:hlinkClick r:id="rId10"/>
                        </a:rPr>
                        <a:t>CANCEL: A FEATURE ENGINEERING METHOD FOR CHURN PREDICTION IN A PRIVACY-PRESERVING CONTEXT </a:t>
                      </a:r>
                      <a:endParaRPr lang="en-IN" sz="1200" dirty="0">
                        <a:latin typeface="Monseratt semibold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3831678"/>
                  </a:ext>
                </a:extLst>
              </a:tr>
              <a:tr h="331681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9.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Monseratt semibold"/>
                          <a:hlinkClick r:id="rId11"/>
                        </a:rPr>
                        <a:t>HANDLING CLASS IMBALANCE IN CUSTOMER CHURN PREDICTION</a:t>
                      </a:r>
                      <a:endParaRPr lang="en-IN" sz="1200" dirty="0">
                        <a:latin typeface="Monseratt semibold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6655670"/>
                  </a:ext>
                </a:extLst>
              </a:tr>
              <a:tr h="331681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10.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Monseratt semibold"/>
                          <a:hlinkClick r:id="rId12"/>
                        </a:rPr>
                        <a:t>REAL TIME CUSTOMER CHURN SCORING MODEL FOR THE TELECOMMUNICATIONS INDUSTRY</a:t>
                      </a:r>
                      <a:endParaRPr lang="en-IN" sz="1200" dirty="0">
                        <a:latin typeface="Monseratt semibold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1032598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7B1D020-1758-CE3F-3E14-C54FDD29E394}"/>
              </a:ext>
            </a:extLst>
          </p:cNvPr>
          <p:cNvGraphicFramePr>
            <a:graphicFrameLocks noGrp="1"/>
          </p:cNvGraphicFramePr>
          <p:nvPr/>
        </p:nvGraphicFramePr>
        <p:xfrm>
          <a:off x="6096000" y="1581972"/>
          <a:ext cx="5769821" cy="484631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2049">
                  <a:extLst>
                    <a:ext uri="{9D8B030D-6E8A-4147-A177-3AD203B41FA5}">
                      <a16:colId xmlns:a16="http://schemas.microsoft.com/office/drawing/2014/main" val="846381541"/>
                    </a:ext>
                  </a:extLst>
                </a:gridCol>
                <a:gridCol w="4847772">
                  <a:extLst>
                    <a:ext uri="{9D8B030D-6E8A-4147-A177-3AD203B41FA5}">
                      <a16:colId xmlns:a16="http://schemas.microsoft.com/office/drawing/2014/main" val="2521413377"/>
                    </a:ext>
                  </a:extLst>
                </a:gridCol>
              </a:tblGrid>
              <a:tr h="372794"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Monseratt semibold"/>
                        </a:rPr>
                        <a:t>Sr 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Monseratt semibold"/>
                        </a:rPr>
                        <a:t>Research Paper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6335095"/>
                  </a:ext>
                </a:extLst>
              </a:tr>
              <a:tr h="372794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Monseratt semibold"/>
                        </a:rPr>
                        <a:t>11.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Monseratt semibold"/>
                          <a:hlinkClick r:id="rId13"/>
                        </a:rPr>
                        <a:t>CUSTOMER CHURN PREDICTION</a:t>
                      </a:r>
                      <a:endParaRPr lang="en-IN" sz="1200" dirty="0">
                        <a:latin typeface="Monseratt semibold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4299926"/>
                  </a:ext>
                </a:extLst>
              </a:tr>
              <a:tr h="465992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Monseratt semibold"/>
                        </a:rPr>
                        <a:t>12.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Monseratt semibold"/>
                          <a:hlinkClick r:id="rId14"/>
                        </a:rPr>
                        <a:t>A MULTI-LAYER PERCEPTRON APPROACH FOR CUSTOMER CHURN PREDICTION</a:t>
                      </a:r>
                      <a:endParaRPr lang="en-IN" sz="1200" dirty="0">
                        <a:latin typeface="Monseratt semibold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7854311"/>
                  </a:ext>
                </a:extLst>
              </a:tr>
              <a:tr h="465992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Monseratt semibold"/>
                        </a:rPr>
                        <a:t>13.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Monseratt semibold"/>
                          <a:hlinkClick r:id="rId15"/>
                        </a:rPr>
                        <a:t>CUSTOMER CHURNING ANALYSIS USING MACHINE LEARNING ALGORITHMS</a:t>
                      </a:r>
                      <a:endParaRPr lang="en-IN" sz="1200" dirty="0">
                        <a:latin typeface="Monseratt semibold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0530375"/>
                  </a:ext>
                </a:extLst>
              </a:tr>
              <a:tr h="372794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Monseratt semibold"/>
                        </a:rPr>
                        <a:t>14.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Monseratt semibold"/>
                          <a:hlinkClick r:id="rId16"/>
                        </a:rPr>
                        <a:t>PREDICTIVE ANALYSIS FOR CUSTOMER RETENTION</a:t>
                      </a:r>
                      <a:endParaRPr lang="en-IN" sz="1200" dirty="0">
                        <a:latin typeface="Monseratt semibold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7621118"/>
                  </a:ext>
                </a:extLst>
              </a:tr>
              <a:tr h="465992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Monseratt semibold"/>
                        </a:rPr>
                        <a:t>15.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Monseratt semibold"/>
                          <a:hlinkClick r:id="rId17"/>
                        </a:rPr>
                        <a:t>METHODS AND SYSTEMS FOR IDENTIFYING CUSTOMER STATUS FOR DEVELOPNG CUSTOMER RETENTION AND LOYALTY STRATEGES </a:t>
                      </a:r>
                      <a:endParaRPr lang="en-IN" sz="1200" dirty="0">
                        <a:latin typeface="Monseratt semibold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0596226"/>
                  </a:ext>
                </a:extLst>
              </a:tr>
              <a:tr h="465992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16.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Monseratt semibold"/>
                          <a:hlinkClick r:id="rId18"/>
                        </a:rPr>
                        <a:t>RESEARCH ON CUSTOMER CHURN PREDICTION AND MODEL INTERPRETABILITY ANALYSIS</a:t>
                      </a:r>
                      <a:endParaRPr lang="en-IN" sz="1200" dirty="0">
                        <a:latin typeface="Monseratt semibold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1227597"/>
                  </a:ext>
                </a:extLst>
              </a:tr>
              <a:tr h="372794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17.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Monseratt semibold"/>
                          <a:hlinkClick r:id="rId18"/>
                        </a:rPr>
                        <a:t>CUSTOMER CHURN BEHAVIOR PREDICTION AND VISUALIZATION.</a:t>
                      </a:r>
                      <a:endParaRPr lang="en-IN" sz="1200" dirty="0">
                        <a:latin typeface="Monseratt semibold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4115668"/>
                  </a:ext>
                </a:extLst>
              </a:tr>
              <a:tr h="652389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18.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Monseratt semibold"/>
                          <a:hlinkClick r:id="rId19"/>
                        </a:rPr>
                        <a:t>INVESTIGATING CUSTOMER CHURN IN BANKING: A MACHINE LEARNING APPROACH AND VISUALIZATION APP FOR DATA SCIENCE AND MANAGEMENT.</a:t>
                      </a:r>
                      <a:endParaRPr lang="en-IN" sz="1200" dirty="0">
                        <a:latin typeface="Monseratt semibold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3831678"/>
                  </a:ext>
                </a:extLst>
              </a:tr>
              <a:tr h="465992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19.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Monseratt semibold"/>
                          <a:hlinkClick r:id="rId20"/>
                        </a:rPr>
                        <a:t>PREDICTIVE AND ANALYTICS USING DATA MINING AND MACHINE LEARNING FOR CUSTOMER CHURN PREDICTION.</a:t>
                      </a:r>
                      <a:endParaRPr lang="en-IN" sz="1200" dirty="0">
                        <a:latin typeface="Monseratt semibold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6655670"/>
                  </a:ext>
                </a:extLst>
              </a:tr>
              <a:tr h="372794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20.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Monseratt semibold"/>
                          <a:hlinkClick r:id="rId21"/>
                        </a:rPr>
                        <a:t>A STUDY ON CUSTOMER CHURN PREDICTION.</a:t>
                      </a:r>
                      <a:endParaRPr lang="en-IN" sz="1200" dirty="0">
                        <a:latin typeface="Monseratt semibold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10325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38754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</TotalTime>
  <Words>1574</Words>
  <Application>Microsoft Office PowerPoint</Application>
  <PresentationFormat>Widescreen</PresentationFormat>
  <Paragraphs>217</Paragraphs>
  <Slides>47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5" baseType="lpstr">
      <vt:lpstr>Arial</vt:lpstr>
      <vt:lpstr>Calibri</vt:lpstr>
      <vt:lpstr>Calibri Light</vt:lpstr>
      <vt:lpstr>Monseratt semibold</vt:lpstr>
      <vt:lpstr>Montserrat Semibold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Harsh Sane</dc:creator>
  <cp:lastModifiedBy>Harsh Sane</cp:lastModifiedBy>
  <cp:revision>3</cp:revision>
  <dcterms:created xsi:type="dcterms:W3CDTF">2025-08-22T04:43:22Z</dcterms:created>
  <dcterms:modified xsi:type="dcterms:W3CDTF">2025-08-27T14:27:25Z</dcterms:modified>
</cp:coreProperties>
</file>